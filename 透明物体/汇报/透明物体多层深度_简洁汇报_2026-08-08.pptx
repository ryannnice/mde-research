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301752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1">
                <a:solidFill>
                  <a:srgbClr val="0F766E"/>
                </a:solidFill>
                <a:latin typeface="Microsoft YaHei"/>
              </a:rPr>
              <a:t>透明物体抓取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34440"/>
            <a:ext cx="987552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3200" b="1">
                <a:solidFill>
                  <a:srgbClr val="172331"/>
                </a:solidFill>
                <a:latin typeface="Microsoft YaHei"/>
              </a:rPr>
              <a:t>从单一深度到多界面几何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938528"/>
            <a:ext cx="73152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500" b="0">
                <a:solidFill>
                  <a:srgbClr val="667381"/>
                </a:solidFill>
                <a:latin typeface="Microsoft YaHei"/>
              </a:rPr>
              <a:t>相关工作 · Idea · 复现进度 · 下一步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76656" y="2578608"/>
            <a:ext cx="10808208" cy="0"/>
          </a:xfrm>
          <a:prstGeom prst="line">
            <a:avLst/>
          </a:prstGeom>
          <a:ln w="12700">
            <a:solidFill>
              <a:srgbClr val="DD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49808" y="3273552"/>
            <a:ext cx="123444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667381"/>
                </a:solidFill>
                <a:latin typeface="Microsoft YaHei"/>
              </a:rPr>
              <a:t>普通深度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93392" y="3364992"/>
            <a:ext cx="2715768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2834640" y="3255264"/>
            <a:ext cx="219456" cy="219456"/>
          </a:xfrm>
          <a:prstGeom prst="ellipse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40280" y="3721608"/>
            <a:ext cx="2240280" cy="2103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400" b="1">
                <a:solidFill>
                  <a:srgbClr val="2563EB"/>
                </a:solidFill>
                <a:latin typeface="Microsoft YaHei"/>
              </a:rPr>
              <a:t>一个像素 = 一个 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0" y="3273552"/>
            <a:ext cx="132588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667381"/>
                </a:solidFill>
                <a:latin typeface="Microsoft YaHei"/>
              </a:rPr>
              <a:t>我们的目标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903720" y="3364992"/>
            <a:ext cx="3913632" cy="0"/>
          </a:xfrm>
          <a:prstGeom prst="line">
            <a:avLst/>
          </a:prstGeom>
          <a:ln w="25400">
            <a:solidFill>
              <a:srgbClr val="0F76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7315200" y="3246120"/>
            <a:ext cx="237744" cy="237744"/>
          </a:xfrm>
          <a:prstGeom prst="ellipse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78040" y="3675887"/>
            <a:ext cx="512064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850" b="0">
                <a:solidFill>
                  <a:srgbClr val="667381"/>
                </a:solidFill>
                <a:latin typeface="Microsoft YaHei"/>
              </a:rPr>
              <a:t>外壁</a:t>
            </a:r>
          </a:p>
        </p:txBody>
      </p:sp>
      <p:sp>
        <p:nvSpPr>
          <p:cNvPr id="14" name="Oval 13"/>
          <p:cNvSpPr/>
          <p:nvPr/>
        </p:nvSpPr>
        <p:spPr>
          <a:xfrm>
            <a:off x="8046720" y="3246120"/>
            <a:ext cx="237744" cy="237744"/>
          </a:xfrm>
          <a:prstGeom prst="ellipse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09560" y="3675887"/>
            <a:ext cx="512064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850" b="0">
                <a:solidFill>
                  <a:srgbClr val="667381"/>
                </a:solidFill>
                <a:latin typeface="Microsoft YaHei"/>
              </a:rPr>
              <a:t>内壁</a:t>
            </a:r>
          </a:p>
        </p:txBody>
      </p:sp>
      <p:sp>
        <p:nvSpPr>
          <p:cNvPr id="16" name="Oval 15"/>
          <p:cNvSpPr/>
          <p:nvPr/>
        </p:nvSpPr>
        <p:spPr>
          <a:xfrm>
            <a:off x="9235440" y="3246120"/>
            <a:ext cx="237744" cy="237744"/>
          </a:xfrm>
          <a:prstGeom prst="ellipse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98280" y="3675887"/>
            <a:ext cx="512064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850" b="0">
                <a:solidFill>
                  <a:srgbClr val="667381"/>
                </a:solidFill>
                <a:latin typeface="Microsoft YaHei"/>
              </a:rPr>
              <a:t>内壁</a:t>
            </a:r>
          </a:p>
        </p:txBody>
      </p:sp>
      <p:sp>
        <p:nvSpPr>
          <p:cNvPr id="18" name="Oval 17"/>
          <p:cNvSpPr/>
          <p:nvPr/>
        </p:nvSpPr>
        <p:spPr>
          <a:xfrm>
            <a:off x="9966960" y="3246120"/>
            <a:ext cx="237744" cy="237744"/>
          </a:xfrm>
          <a:prstGeom prst="ellipse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29800" y="3675887"/>
            <a:ext cx="512064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850" b="0">
                <a:solidFill>
                  <a:srgbClr val="667381"/>
                </a:solidFill>
                <a:latin typeface="Microsoft YaHei"/>
              </a:rPr>
              <a:t>外壁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60920" y="4032504"/>
            <a:ext cx="3127248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400" b="1">
                <a:solidFill>
                  <a:srgbClr val="0F766E"/>
                </a:solidFill>
                <a:latin typeface="Microsoft YaHei"/>
              </a:rPr>
              <a:t>一个像素 = 有序界面事件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" y="5093208"/>
            <a:ext cx="10241280" cy="566928"/>
          </a:xfrm>
          <a:prstGeom prst="roundRect">
            <a:avLst/>
          </a:prstGeom>
          <a:solidFill>
            <a:srgbClr val="EAF6F4"/>
          </a:solidFill>
          <a:ln w="10160">
            <a:solidFill>
              <a:srgbClr val="EAF6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33856" y="5266944"/>
            <a:ext cx="9893808" cy="2103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500" b="1">
                <a:solidFill>
                  <a:srgbClr val="172331"/>
                </a:solidFill>
                <a:latin typeface="Microsoft YaHei"/>
              </a:rPr>
              <a:t>核心假设：保留外壁、内壁和空腔，能减少抓取规划中的穿壁与“实心化”错误。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6254496"/>
            <a:ext cx="2286000" cy="1554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30" b="0">
                <a:solidFill>
                  <a:srgbClr val="667381"/>
                </a:solidFill>
                <a:latin typeface="Microsoft YaHei"/>
              </a:rPr>
              <a:t>阶段汇报 · 2026.08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12064" y="338328"/>
            <a:ext cx="457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00" b="1">
                <a:solidFill>
                  <a:srgbClr val="0F766E"/>
                </a:solidFill>
                <a:latin typeface="Microsoft YaHei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0120" y="283464"/>
            <a:ext cx="1042416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400" b="1">
                <a:solidFill>
                  <a:srgbClr val="172331"/>
                </a:solidFill>
                <a:latin typeface="Microsoft YaHei"/>
              </a:rPr>
              <a:t>硬件进度：从 D455 深度到 PIPER-X 基座已打通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12064" y="850392"/>
            <a:ext cx="11137392" cy="0"/>
          </a:xfrm>
          <a:prstGeom prst="line">
            <a:avLst/>
          </a:prstGeom>
          <a:ln w="11430">
            <a:solidFill>
              <a:srgbClr val="DD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03504" y="1033271"/>
            <a:ext cx="877824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0">
                <a:solidFill>
                  <a:srgbClr val="667381"/>
                </a:solidFill>
                <a:latin typeface="Microsoft YaHei"/>
              </a:rPr>
              <a:t>PIPER-X + AGILE.X 夹爪 + Intel RealSense D455 · 实机验证 2026.08.09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93808" y="987552"/>
            <a:ext cx="1645920" cy="292608"/>
          </a:xfrm>
          <a:prstGeom prst="roundRect">
            <a:avLst/>
          </a:prstGeom>
          <a:solidFill>
            <a:srgbClr val="EAF6F4"/>
          </a:solidFill>
          <a:ln w="10160">
            <a:solidFill>
              <a:srgbClr val="EAF6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93808" y="1056132"/>
            <a:ext cx="1645920" cy="1188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880" b="1">
                <a:solidFill>
                  <a:srgbClr val="15805D"/>
                </a:solidFill>
                <a:latin typeface="Microsoft YaHei"/>
              </a:rPr>
              <a:t>同步快照已通过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2212848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481328"/>
            <a:ext cx="64008" cy="1298448"/>
          </a:xfrm>
          <a:prstGeom prst="rect">
            <a:avLst/>
          </a:prstGeom>
          <a:solidFill>
            <a:srgbClr val="2563EB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737360"/>
            <a:ext cx="181051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172331"/>
                </a:solidFill>
                <a:latin typeface="Microsoft YaHei"/>
              </a:rPr>
              <a:t>末端 D455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139696"/>
            <a:ext cx="1847088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969" b="0">
                <a:solidFill>
                  <a:srgbClr val="667381"/>
                </a:solidFill>
                <a:latin typeface="Microsoft YaHei"/>
              </a:rPr>
              <a:t>RGB-D 848×480 @ 30 Hz
USB 3.2 · eye-in-hand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1481328"/>
            <a:ext cx="2212848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29000" y="1481328"/>
            <a:ext cx="64008" cy="1298448"/>
          </a:xfrm>
          <a:prstGeom prst="rect">
            <a:avLst/>
          </a:prstGeom>
          <a:solidFill>
            <a:srgbClr val="2563EB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30168" y="1737360"/>
            <a:ext cx="181051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172331"/>
                </a:solidFill>
                <a:latin typeface="Microsoft YaHei"/>
              </a:rPr>
              <a:t>彩色对齐深度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2139696"/>
            <a:ext cx="1847088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969" b="0">
                <a:solidFill>
                  <a:srgbClr val="667381"/>
                </a:solidFill>
                <a:latin typeface="Microsoft YaHei"/>
              </a:rPr>
              <a:t>camera_p
24 / 24 角点有效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9632" y="1481328"/>
            <a:ext cx="2212848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9632" y="1481328"/>
            <a:ext cx="64008" cy="1298448"/>
          </a:xfrm>
          <a:prstGeom prst="rect">
            <a:avLst/>
          </a:prstGeom>
          <a:solidFill>
            <a:srgbClr val="0F766E"/>
          </a:solidFill>
          <a:ln w="1016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737360"/>
            <a:ext cx="181051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172331"/>
                </a:solidFill>
                <a:latin typeface="Microsoft YaHei"/>
              </a:rPr>
              <a:t>手眼外参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2512" y="2139696"/>
            <a:ext cx="1847088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969" b="0">
                <a:solidFill>
                  <a:srgbClr val="667381"/>
                </a:solidFill>
                <a:latin typeface="Microsoft YaHei"/>
              </a:rPr>
              <a:t>flange_T_camera
Park · 15 + 3 姿态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70264" y="1481328"/>
            <a:ext cx="2212848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70264" y="1481328"/>
            <a:ext cx="64008" cy="1298448"/>
          </a:xfrm>
          <a:prstGeom prst="rect">
            <a:avLst/>
          </a:prstGeom>
          <a:solidFill>
            <a:srgbClr val="15805D"/>
          </a:solidFill>
          <a:ln w="10160">
            <a:solidFill>
              <a:srgbClr val="1580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1432" y="1737360"/>
            <a:ext cx="181051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172331"/>
                </a:solidFill>
                <a:latin typeface="Microsoft YaHei"/>
              </a:rPr>
              <a:t>PIPER-X 基座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53144" y="2139696"/>
            <a:ext cx="1847088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969" b="0">
                <a:solidFill>
                  <a:srgbClr val="667381"/>
                </a:solidFill>
                <a:latin typeface="Microsoft YaHei"/>
              </a:rPr>
              <a:t>base_T_flange
法兰反馈 + FK</a:t>
            </a:r>
          </a:p>
        </p:txBody>
      </p:sp>
      <p:sp>
        <p:nvSpPr>
          <p:cNvPr id="24" name="Chevron 23"/>
          <p:cNvSpPr/>
          <p:nvPr/>
        </p:nvSpPr>
        <p:spPr>
          <a:xfrm>
            <a:off x="2971800" y="1865376"/>
            <a:ext cx="292608" cy="438912"/>
          </a:xfrm>
          <a:prstGeom prst="chevron">
            <a:avLst/>
          </a:prstGeom>
          <a:solidFill>
            <a:srgbClr val="DDE3E8"/>
          </a:solidFill>
          <a:ln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evron 24"/>
          <p:cNvSpPr/>
          <p:nvPr/>
        </p:nvSpPr>
        <p:spPr>
          <a:xfrm>
            <a:off x="5742432" y="1865376"/>
            <a:ext cx="292608" cy="438912"/>
          </a:xfrm>
          <a:prstGeom prst="chevron">
            <a:avLst/>
          </a:prstGeom>
          <a:solidFill>
            <a:srgbClr val="DDE3E8"/>
          </a:solidFill>
          <a:ln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Chevron 25"/>
          <p:cNvSpPr/>
          <p:nvPr/>
        </p:nvSpPr>
        <p:spPr>
          <a:xfrm>
            <a:off x="8513064" y="1865376"/>
            <a:ext cx="292608" cy="438912"/>
          </a:xfrm>
          <a:prstGeom prst="chevron">
            <a:avLst/>
          </a:prstGeom>
          <a:solidFill>
            <a:srgbClr val="DDE3E8"/>
          </a:solidFill>
          <a:ln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335024" y="3054096"/>
            <a:ext cx="9509760" cy="530352"/>
          </a:xfrm>
          <a:prstGeom prst="roundRect">
            <a:avLst/>
          </a:prstGeom>
          <a:solidFill>
            <a:srgbClr val="EAF6F4"/>
          </a:solidFill>
          <a:ln w="10160">
            <a:solidFill>
              <a:srgbClr val="EAF6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545336" y="3209544"/>
            <a:ext cx="9089136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400" b="1">
                <a:solidFill>
                  <a:srgbClr val="0F766E"/>
                </a:solidFill>
                <a:latin typeface="Microsoft YaHei"/>
              </a:rPr>
              <a:t>base_p = base_T_flange @ flange_T_camera @ camera_p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3913632"/>
            <a:ext cx="2313432" cy="113385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59" y="4096512"/>
            <a:ext cx="1984248" cy="17373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19" b="1">
                <a:solidFill>
                  <a:srgbClr val="667381"/>
                </a:solidFill>
                <a:latin typeface="Microsoft YaHei"/>
              </a:rPr>
              <a:t>统一时间戳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" y="4407408"/>
            <a:ext cx="2057400" cy="2103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320" b="1">
                <a:solidFill>
                  <a:srgbClr val="15805D"/>
                </a:solidFill>
                <a:latin typeface="Microsoft YaHei"/>
              </a:rPr>
              <a:t>5.420 ms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" y="4736592"/>
            <a:ext cx="2057400" cy="146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830" b="0">
                <a:solidFill>
                  <a:srgbClr val="667381"/>
                </a:solidFill>
                <a:latin typeface="Microsoft YaHei"/>
              </a:rPr>
              <a:t>相机曝光 ↔ 法兰反馈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511296" y="3913632"/>
            <a:ext cx="2313432" cy="113385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5887" y="4096512"/>
            <a:ext cx="1984248" cy="17373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19" b="1">
                <a:solidFill>
                  <a:srgbClr val="667381"/>
                </a:solidFill>
                <a:latin typeface="Microsoft YaHei"/>
              </a:rPr>
              <a:t>手眼独立留出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9312" y="4407408"/>
            <a:ext cx="2057400" cy="2103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320" b="1">
                <a:solidFill>
                  <a:srgbClr val="0F766E"/>
                </a:solidFill>
                <a:latin typeface="Microsoft YaHei"/>
              </a:rPr>
              <a:t>3.660 mm / 0.663°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39312" y="4736592"/>
            <a:ext cx="2057400" cy="146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830" b="0">
                <a:solidFill>
                  <a:srgbClr val="667381"/>
                </a:solidFill>
                <a:latin typeface="Microsoft YaHei"/>
              </a:rPr>
              <a:t>3 个未参与求解姿态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364224" y="3913632"/>
            <a:ext cx="2313432" cy="113385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28816" y="4096512"/>
            <a:ext cx="1984248" cy="17373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19" b="1">
                <a:solidFill>
                  <a:srgbClr val="667381"/>
                </a:solidFill>
                <a:latin typeface="Microsoft YaHei"/>
              </a:rPr>
              <a:t>深度板面拟合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92240" y="4407408"/>
            <a:ext cx="2057400" cy="2103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320" b="1">
                <a:solidFill>
                  <a:srgbClr val="2563EB"/>
                </a:solidFill>
                <a:latin typeface="Microsoft YaHei"/>
              </a:rPr>
              <a:t>0.692 mm RMS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92240" y="4736592"/>
            <a:ext cx="2057400" cy="146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830" b="0">
                <a:solidFill>
                  <a:srgbClr val="667381"/>
                </a:solidFill>
                <a:latin typeface="Microsoft YaHei"/>
              </a:rPr>
              <a:t>30 mm 边长误差 0.307 mm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217152" y="3913632"/>
            <a:ext cx="2313432" cy="113385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381744" y="4096512"/>
            <a:ext cx="1984248" cy="17373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19" b="1">
                <a:solidFill>
                  <a:srgbClr val="667381"/>
                </a:solidFill>
                <a:latin typeface="Microsoft YaHei"/>
              </a:rPr>
              <a:t>基座位姿一致性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45168" y="4407408"/>
            <a:ext cx="2057400" cy="2103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320" b="1">
                <a:solidFill>
                  <a:srgbClr val="C46B16"/>
                </a:solidFill>
                <a:latin typeface="Microsoft YaHei"/>
              </a:rPr>
              <a:t>3.469 mm / 0.513°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45168" y="4736592"/>
            <a:ext cx="2057400" cy="146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830" b="0">
                <a:solidFill>
                  <a:srgbClr val="667381"/>
                </a:solidFill>
                <a:latin typeface="Microsoft YaHei"/>
              </a:rPr>
              <a:t>深度点 → 机器人 Base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68680" y="5404104"/>
            <a:ext cx="10451592" cy="649224"/>
          </a:xfrm>
          <a:prstGeom prst="roundRect">
            <a:avLst/>
          </a:prstGeom>
          <a:solidFill>
            <a:srgbClr val="EEF4FF"/>
          </a:solidFill>
          <a:ln w="10160">
            <a:solidFill>
              <a:srgbClr val="EE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06424" y="5614416"/>
            <a:ext cx="96012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1">
                <a:solidFill>
                  <a:srgbClr val="2563EB"/>
                </a:solidFill>
                <a:latin typeface="Microsoft YaHei"/>
              </a:rPr>
              <a:t>下一步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011680" y="5577840"/>
            <a:ext cx="894283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80" b="1">
                <a:solidFill>
                  <a:srgbClr val="172331"/>
                </a:solidFill>
                <a:latin typeface="Microsoft YaHei"/>
              </a:rPr>
              <a:t>连续多帧记录 + 法兰位姿插值，接透明物体 mask、目标位姿与抓取。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1207" y="6565392"/>
            <a:ext cx="10881360" cy="1371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720" b="0">
                <a:solidFill>
                  <a:srgbClr val="667381"/>
                </a:solidFill>
                <a:latin typeface="Microsoft YaHei"/>
              </a:rPr>
              <a:t>统一静态快照已输出 308,677 点 Base PLY；相机支架不可松动。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12064" y="338328"/>
            <a:ext cx="457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00" b="1">
                <a:solidFill>
                  <a:srgbClr val="0F766E"/>
                </a:solidFill>
                <a:latin typeface="Microsoft YaHei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0120" y="283464"/>
            <a:ext cx="1042416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400" b="1">
                <a:solidFill>
                  <a:srgbClr val="172331"/>
                </a:solidFill>
                <a:latin typeface="Microsoft YaHei"/>
              </a:rPr>
              <a:t>相关论文①：单层深度路线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12064" y="850392"/>
            <a:ext cx="11137392" cy="0"/>
          </a:xfrm>
          <a:prstGeom prst="line">
            <a:avLst/>
          </a:prstGeom>
          <a:ln w="11430">
            <a:solidFill>
              <a:srgbClr val="DD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143000"/>
            <a:ext cx="2194560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600" b="1">
                <a:solidFill>
                  <a:srgbClr val="172331"/>
                </a:solidFill>
                <a:latin typeface="Microsoft YaHei"/>
              </a:rPr>
              <a:t>TransCG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43784" y="1106424"/>
            <a:ext cx="685800" cy="292608"/>
          </a:xfrm>
          <a:prstGeom prst="roundRect">
            <a:avLst/>
          </a:prstGeom>
          <a:solidFill>
            <a:srgbClr val="EEF4FF"/>
          </a:solidFill>
          <a:ln w="10160">
            <a:solidFill>
              <a:srgbClr val="EE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43784" y="1175004"/>
            <a:ext cx="685800" cy="1188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880" b="1">
                <a:solidFill>
                  <a:srgbClr val="2563EB"/>
                </a:solidFill>
                <a:latin typeface="Microsoft YaHei"/>
              </a:rPr>
              <a:t>RAL 2022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90472"/>
            <a:ext cx="3072384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80" b="0">
                <a:solidFill>
                  <a:srgbClr val="667381"/>
                </a:solidFill>
                <a:latin typeface="Microsoft YaHei"/>
              </a:rPr>
              <a:t>RGB-D 深度补全 + 抓取数据</a:t>
            </a:r>
          </a:p>
        </p:txBody>
      </p:sp>
      <p:pic>
        <p:nvPicPr>
          <p:cNvPr id="9" name="Picture 8" descr="transcg_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93751"/>
            <a:ext cx="3072384" cy="198586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1975104"/>
            <a:ext cx="3072384" cy="2423160"/>
          </a:xfrm>
          <a:prstGeom prst="rect">
            <a:avLst/>
          </a:prstGeom>
          <a:noFill/>
          <a:ln w="889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96512" y="1143000"/>
            <a:ext cx="2194560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600" b="1">
                <a:solidFill>
                  <a:srgbClr val="172331"/>
                </a:solidFill>
                <a:latin typeface="Microsoft YaHei"/>
              </a:rPr>
              <a:t>Depth4ToM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91656" y="1106424"/>
            <a:ext cx="685800" cy="292608"/>
          </a:xfrm>
          <a:prstGeom prst="roundRect">
            <a:avLst/>
          </a:prstGeom>
          <a:solidFill>
            <a:srgbClr val="EEF4FF"/>
          </a:solidFill>
          <a:ln w="10160">
            <a:solidFill>
              <a:srgbClr val="EE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1656" y="1175004"/>
            <a:ext cx="685800" cy="1188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880" b="1">
                <a:solidFill>
                  <a:srgbClr val="2563EB"/>
                </a:solidFill>
                <a:latin typeface="Microsoft YaHei"/>
              </a:rPr>
              <a:t>ICCV 2023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96512" y="1490472"/>
            <a:ext cx="3072384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80" b="0">
                <a:solidFill>
                  <a:srgbClr val="667381"/>
                </a:solidFill>
                <a:latin typeface="Microsoft YaHei"/>
              </a:rPr>
              <a:t>透明 / 镜面单目深度估计</a:t>
            </a:r>
          </a:p>
        </p:txBody>
      </p:sp>
      <p:pic>
        <p:nvPicPr>
          <p:cNvPr id="15" name="Picture 14" descr="depth4tom_c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3899" y="1975104"/>
            <a:ext cx="2537608" cy="2423159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096512" y="1975104"/>
            <a:ext cx="3072384" cy="2423160"/>
          </a:xfrm>
          <a:prstGeom prst="rect">
            <a:avLst/>
          </a:prstGeom>
          <a:noFill/>
          <a:ln w="889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44383" y="1143000"/>
            <a:ext cx="2194560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600" b="1">
                <a:solidFill>
                  <a:srgbClr val="172331"/>
                </a:solidFill>
                <a:latin typeface="Microsoft YaHei"/>
              </a:rPr>
              <a:t>ReMake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939528" y="1106424"/>
            <a:ext cx="685800" cy="292608"/>
          </a:xfrm>
          <a:prstGeom prst="roundRect">
            <a:avLst/>
          </a:prstGeom>
          <a:solidFill>
            <a:srgbClr val="EEF4FF"/>
          </a:solidFill>
          <a:ln w="10160">
            <a:solidFill>
              <a:srgbClr val="EE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939528" y="1175004"/>
            <a:ext cx="685800" cy="1188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880" b="1">
                <a:solidFill>
                  <a:srgbClr val="2563EB"/>
                </a:solidFill>
                <a:latin typeface="Microsoft YaHei"/>
              </a:rPr>
              <a:t>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44383" y="1490472"/>
            <a:ext cx="3072384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80" b="0">
                <a:solidFill>
                  <a:srgbClr val="667381"/>
                </a:solidFill>
                <a:latin typeface="Microsoft YaHei"/>
              </a:rPr>
              <a:t>mask 辅助的 metric depth + 抓取</a:t>
            </a:r>
          </a:p>
        </p:txBody>
      </p:sp>
      <p:pic>
        <p:nvPicPr>
          <p:cNvPr id="21" name="Picture 20" descr="remake_co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4383" y="2346126"/>
            <a:ext cx="3072384" cy="1681115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7644383" y="1975104"/>
            <a:ext cx="3072384" cy="2423160"/>
          </a:xfrm>
          <a:prstGeom prst="rect">
            <a:avLst/>
          </a:prstGeom>
          <a:noFill/>
          <a:ln w="889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49808" y="4946904"/>
            <a:ext cx="10698480" cy="694944"/>
          </a:xfrm>
          <a:prstGeom prst="roundRect">
            <a:avLst/>
          </a:prstGeom>
          <a:solidFill>
            <a:srgbClr val="F5F8FA"/>
          </a:solidFill>
          <a:ln w="10160">
            <a:solidFill>
              <a:srgbClr val="F5F8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157216"/>
            <a:ext cx="1024128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0F766E"/>
                </a:solidFill>
                <a:latin typeface="Microsoft YaHei"/>
              </a:rPr>
              <a:t>共同点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93392" y="5129784"/>
            <a:ext cx="9025128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72331"/>
                </a:solidFill>
                <a:latin typeface="Microsoft YaHei"/>
              </a:rPr>
              <a:t>都把输出压缩成一张深度图；对透明物体有用，但无法直接表达内壁与空腔。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879592"/>
            <a:ext cx="96012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0F766E"/>
                </a:solidFill>
                <a:latin typeface="Microsoft YaHei"/>
              </a:rPr>
              <a:t>这也是 DepthHypothesisPack 要突破的表示瓶颈。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7" y="6565392"/>
            <a:ext cx="10881360" cy="1371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720" b="0">
                <a:solidFill>
                  <a:srgbClr val="667381"/>
                </a:solidFill>
                <a:latin typeface="Microsoft YaHei"/>
              </a:rPr>
              <a:t>图片截自本地论文 PDF：TransCG、Depth4ToM、ReMake。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12064" y="338328"/>
            <a:ext cx="457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00" b="1">
                <a:solidFill>
                  <a:srgbClr val="0F766E"/>
                </a:solidFill>
                <a:latin typeface="Microsoft YaHei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0120" y="283464"/>
            <a:ext cx="1042416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400" b="1">
                <a:solidFill>
                  <a:srgbClr val="172331"/>
                </a:solidFill>
                <a:latin typeface="Microsoft YaHei"/>
              </a:rPr>
              <a:t>相关论文②：多层深度路线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12064" y="850392"/>
            <a:ext cx="11137392" cy="0"/>
          </a:xfrm>
          <a:prstGeom prst="line">
            <a:avLst/>
          </a:prstGeom>
          <a:ln w="11430">
            <a:solidFill>
              <a:srgbClr val="DD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03504" y="1115568"/>
            <a:ext cx="219456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600" b="1">
                <a:solidFill>
                  <a:srgbClr val="172331"/>
                </a:solidFill>
                <a:latin typeface="Microsoft YaHei"/>
              </a:rPr>
              <a:t>LayeredDepth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1463040"/>
            <a:ext cx="525780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>
                <a:solidFill>
                  <a:srgbClr val="667381"/>
                </a:solidFill>
                <a:latin typeface="Microsoft YaHei"/>
              </a:rPr>
              <a:t>提出真实 / 合成 multi-layer benchmark，并定义 layer_first 与 layer_all 评测。</a:t>
            </a:r>
          </a:p>
        </p:txBody>
      </p:sp>
      <p:pic>
        <p:nvPicPr>
          <p:cNvPr id="7" name="Picture 6" descr="layereddepth_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159058"/>
            <a:ext cx="5230368" cy="253988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03504" y="1938528"/>
            <a:ext cx="5230368" cy="2980944"/>
          </a:xfrm>
          <a:prstGeom prst="rect">
            <a:avLst/>
          </a:prstGeom>
          <a:noFill/>
          <a:ln w="889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18504" y="1115568"/>
            <a:ext cx="219456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600" b="1">
                <a:solidFill>
                  <a:srgbClr val="172331"/>
                </a:solidFill>
                <a:latin typeface="Microsoft YaHei"/>
              </a:rPr>
              <a:t>SeeGroup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8504" y="1463040"/>
            <a:ext cx="525780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>
                <a:solidFill>
                  <a:srgbClr val="667381"/>
                </a:solidFill>
                <a:latin typeface="Microsoft YaHei"/>
              </a:rPr>
              <a:t>沿同一条 ray 预测多个深度，并让模型自适应地组织这些层。</a:t>
            </a:r>
          </a:p>
        </p:txBody>
      </p:sp>
      <p:pic>
        <p:nvPicPr>
          <p:cNvPr id="11" name="Picture 10" descr="seegroup_c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8504" y="2641392"/>
            <a:ext cx="5230368" cy="157521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318504" y="1938528"/>
            <a:ext cx="5230368" cy="2980944"/>
          </a:xfrm>
          <a:prstGeom prst="rect">
            <a:avLst/>
          </a:prstGeom>
          <a:noFill/>
          <a:ln w="889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78992" y="5340096"/>
            <a:ext cx="10040112" cy="612648"/>
          </a:xfrm>
          <a:prstGeom prst="roundRect">
            <a:avLst/>
          </a:prstGeom>
          <a:solidFill>
            <a:srgbClr val="EAF6F4"/>
          </a:solidFill>
          <a:ln w="10160">
            <a:solidFill>
              <a:srgbClr val="EAF6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5522976"/>
            <a:ext cx="9601200" cy="2103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400" b="1">
                <a:solidFill>
                  <a:srgbClr val="172331"/>
                </a:solidFill>
                <a:latin typeface="Microsoft YaHei"/>
              </a:rPr>
              <a:t>它们证明“多界面可以被感知”；仍未回答“多界面能否让抓取规划更可靠”。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7" y="6565392"/>
            <a:ext cx="10881360" cy="1371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720" b="0">
                <a:solidFill>
                  <a:srgbClr val="667381"/>
                </a:solidFill>
                <a:latin typeface="Microsoft YaHei"/>
              </a:rPr>
              <a:t>图片截自本地论文 PDF：LayeredDepth、SeeGroup。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12064" y="338328"/>
            <a:ext cx="457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00" b="1">
                <a:solidFill>
                  <a:srgbClr val="0F766E"/>
                </a:solidFill>
                <a:latin typeface="Microsoft YaHei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0120" y="283464"/>
            <a:ext cx="1042416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400" b="1">
                <a:solidFill>
                  <a:srgbClr val="172331"/>
                </a:solidFill>
                <a:latin typeface="Microsoft YaHei"/>
              </a:rPr>
              <a:t>Idea：DepthHypothesisPack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12064" y="850392"/>
            <a:ext cx="11137392" cy="0"/>
          </a:xfrm>
          <a:prstGeom prst="line">
            <a:avLst/>
          </a:prstGeom>
          <a:ln w="11430">
            <a:solidFill>
              <a:srgbClr val="DD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57784" y="1078992"/>
            <a:ext cx="804672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0">
                <a:solidFill>
                  <a:srgbClr val="667381"/>
                </a:solidFill>
                <a:latin typeface="Microsoft YaHei"/>
              </a:rPr>
              <a:t>把感知模型输出变成规划器能直接使用的薄壳事件。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6" y="1911095"/>
            <a:ext cx="2139696" cy="19202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76656" y="1911095"/>
            <a:ext cx="64008" cy="1920240"/>
          </a:xfrm>
          <a:prstGeom prst="rect">
            <a:avLst/>
          </a:prstGeom>
          <a:solidFill>
            <a:srgbClr val="2563EB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2203703"/>
            <a:ext cx="1700784" cy="2651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500" b="1">
                <a:solidFill>
                  <a:srgbClr val="172331"/>
                </a:solidFill>
                <a:latin typeface="Microsoft YaHei"/>
              </a:rPr>
              <a:t>输入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" y="2825496"/>
            <a:ext cx="1700784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200" b="0">
                <a:solidFill>
                  <a:srgbClr val="667381"/>
                </a:solidFill>
                <a:latin typeface="Microsoft YaHei"/>
              </a:rPr>
              <a:t>RGB-D + mask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85032" y="1911095"/>
            <a:ext cx="3694176" cy="19202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85032" y="1911095"/>
            <a:ext cx="64008" cy="1920240"/>
          </a:xfrm>
          <a:prstGeom prst="rect">
            <a:avLst/>
          </a:prstGeom>
          <a:solidFill>
            <a:srgbClr val="0F766E"/>
          </a:solidFill>
          <a:ln w="1016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13632" y="2203703"/>
            <a:ext cx="3255264" cy="2651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500" b="1">
                <a:solidFill>
                  <a:srgbClr val="172331"/>
                </a:solidFill>
                <a:latin typeface="Microsoft YaHei"/>
              </a:rPr>
              <a:t>DepthHypothesisPack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13632" y="2825496"/>
            <a:ext cx="3255264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200" b="0">
                <a:solidFill>
                  <a:srgbClr val="667381"/>
                </a:solidFill>
                <a:latin typeface="Microsoft YaHei"/>
              </a:rPr>
              <a:t>[d¹, d², d³, d⁴] + 类型 / 置信度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57031" y="1911095"/>
            <a:ext cx="3255264" cy="19202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57031" y="1911095"/>
            <a:ext cx="64008" cy="1920240"/>
          </a:xfrm>
          <a:prstGeom prst="rect">
            <a:avLst/>
          </a:prstGeom>
          <a:solidFill>
            <a:srgbClr val="15805D"/>
          </a:solidFill>
          <a:ln w="10160">
            <a:solidFill>
              <a:srgbClr val="1580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85632" y="2203703"/>
            <a:ext cx="2816352" cy="2651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500" b="1">
                <a:solidFill>
                  <a:srgbClr val="172331"/>
                </a:solidFill>
                <a:latin typeface="Microsoft YaHei"/>
              </a:rPr>
              <a:t>Shell-aware planner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85632" y="2825496"/>
            <a:ext cx="2816352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200" b="0">
                <a:solidFill>
                  <a:srgbClr val="667381"/>
                </a:solidFill>
                <a:latin typeface="Microsoft YaHei"/>
              </a:rPr>
              <a:t>碰撞、空腔、可达性检查</a:t>
            </a:r>
          </a:p>
        </p:txBody>
      </p:sp>
      <p:sp>
        <p:nvSpPr>
          <p:cNvPr id="18" name="Chevron 17"/>
          <p:cNvSpPr/>
          <p:nvPr/>
        </p:nvSpPr>
        <p:spPr>
          <a:xfrm>
            <a:off x="3054096" y="2578608"/>
            <a:ext cx="365760" cy="493776"/>
          </a:xfrm>
          <a:prstGeom prst="chevron">
            <a:avLst/>
          </a:prstGeom>
          <a:solidFill>
            <a:srgbClr val="DDE3E8"/>
          </a:solidFill>
          <a:ln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evron 18"/>
          <p:cNvSpPr/>
          <p:nvPr/>
        </p:nvSpPr>
        <p:spPr>
          <a:xfrm>
            <a:off x="7626096" y="2578608"/>
            <a:ext cx="365760" cy="493776"/>
          </a:xfrm>
          <a:prstGeom prst="chevron">
            <a:avLst/>
          </a:prstGeom>
          <a:solidFill>
            <a:srgbClr val="DDE3E8"/>
          </a:solidFill>
          <a:ln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0" y="3017520"/>
            <a:ext cx="475488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2563EB"/>
                </a:solidFill>
                <a:latin typeface="Microsoft YaHei"/>
              </a:rPr>
              <a:t>d¹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27448" y="3017520"/>
            <a:ext cx="475488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0F766E"/>
                </a:solidFill>
                <a:latin typeface="Microsoft YaHei"/>
              </a:rPr>
              <a:t>d²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40096" y="3017520"/>
            <a:ext cx="475488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C46B16"/>
                </a:solidFill>
                <a:latin typeface="Microsoft YaHei"/>
              </a:rPr>
              <a:t>d³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52744" y="3017520"/>
            <a:ext cx="475488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15805D"/>
                </a:solidFill>
                <a:latin typeface="Microsoft YaHei"/>
              </a:rPr>
              <a:t>d⁴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3816" y="4590288"/>
            <a:ext cx="10588752" cy="1115568"/>
          </a:xfrm>
          <a:prstGeom prst="roundRect">
            <a:avLst/>
          </a:prstGeom>
          <a:solidFill>
            <a:srgbClr val="F5F8FA"/>
          </a:solidFill>
          <a:ln w="10160">
            <a:solidFill>
              <a:srgbClr val="F5F8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4837176"/>
            <a:ext cx="3749039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72331"/>
                </a:solidFill>
                <a:latin typeface="Microsoft YaHei"/>
              </a:rPr>
              <a:t>关键不是“多输出几张 depth map”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54296" y="4828032"/>
            <a:ext cx="6373368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0F766E"/>
                </a:solidFill>
                <a:latin typeface="Microsoft YaHei"/>
              </a:rPr>
              <a:t>而是保留事件顺序与几何语义，让 planner 知道哪里是壁、哪里是空腔。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" y="5330952"/>
            <a:ext cx="969264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80" b="0">
                <a:solidFill>
                  <a:srgbClr val="667381"/>
                </a:solidFill>
                <a:latin typeface="Microsoft YaHei"/>
              </a:rPr>
              <a:t>当前状态：Idea 已确定；Head 尚未训练，先通过下游可行性 Gate。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7" y="6565392"/>
            <a:ext cx="10881360" cy="1371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720" b="0">
                <a:solidFill>
                  <a:srgbClr val="667381"/>
                </a:solidFill>
                <a:latin typeface="Microsoft YaHei"/>
              </a:rPr>
              <a:t>本页为本项目方法设计。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12064" y="338328"/>
            <a:ext cx="457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00" b="1">
                <a:solidFill>
                  <a:srgbClr val="0F766E"/>
                </a:solidFill>
                <a:latin typeface="Microsoft YaHei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0120" y="283464"/>
            <a:ext cx="1042416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400" b="1">
                <a:solidFill>
                  <a:srgbClr val="172331"/>
                </a:solidFill>
                <a:latin typeface="Microsoft YaHei"/>
              </a:rPr>
              <a:t>复现进度：已经证明什么，还缺什么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12064" y="850392"/>
            <a:ext cx="11137392" cy="0"/>
          </a:xfrm>
          <a:prstGeom prst="line">
            <a:avLst/>
          </a:prstGeom>
          <a:ln w="11430">
            <a:solidFill>
              <a:srgbClr val="DD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03504" y="1161288"/>
            <a:ext cx="210312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72331"/>
                </a:solidFill>
                <a:latin typeface="Microsoft YaHei"/>
              </a:rPr>
              <a:t>已完成的证据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06440" y="1115568"/>
            <a:ext cx="1115568" cy="292608"/>
          </a:xfrm>
          <a:prstGeom prst="roundRect">
            <a:avLst/>
          </a:prstGeom>
          <a:solidFill>
            <a:srgbClr val="EAF6F4"/>
          </a:solidFill>
          <a:ln w="10160">
            <a:solidFill>
              <a:srgbClr val="EAF6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06440" y="1184148"/>
            <a:ext cx="1115568" cy="1188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880" b="1">
                <a:solidFill>
                  <a:srgbClr val="15805D"/>
                </a:solidFill>
                <a:latin typeface="Microsoft YaHei"/>
              </a:rPr>
              <a:t>结果可信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" y="1600200"/>
            <a:ext cx="6528816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3504" y="1600200"/>
            <a:ext cx="64008" cy="987552"/>
          </a:xfrm>
          <a:prstGeom prst="rect">
            <a:avLst/>
          </a:prstGeom>
          <a:solidFill>
            <a:srgbClr val="15805D"/>
          </a:solidFill>
          <a:ln w="10160">
            <a:solidFill>
              <a:srgbClr val="1580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755648"/>
            <a:ext cx="1901952" cy="19202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1">
                <a:solidFill>
                  <a:srgbClr val="172331"/>
                </a:solidFill>
                <a:latin typeface="Microsoft YaHei"/>
              </a:rPr>
              <a:t>单层深度基线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112264"/>
            <a:ext cx="1901952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00" b="0">
                <a:solidFill>
                  <a:srgbClr val="667381"/>
                </a:solidFill>
                <a:latin typeface="Microsoft YaHei"/>
              </a:rPr>
              <a:t>Booster · 228 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1746504"/>
            <a:ext cx="3931920" cy="2103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110" b="1">
                <a:solidFill>
                  <a:srgbClr val="15805D"/>
                </a:solidFill>
                <a:latin typeface="Microsoft YaHei"/>
              </a:rPr>
              <a:t>均方根误差 136.28 mm（约 13.6 cm）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2121408"/>
            <a:ext cx="393192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890" b="0">
                <a:solidFill>
                  <a:srgbClr val="667381"/>
                </a:solidFill>
                <a:latin typeface="Microsoft YaHei"/>
              </a:rPr>
              <a:t>与论文表格一致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3504" y="2724912"/>
            <a:ext cx="6528816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03504" y="2724912"/>
            <a:ext cx="64008" cy="987552"/>
          </a:xfrm>
          <a:prstGeom prst="rect">
            <a:avLst/>
          </a:prstGeom>
          <a:solidFill>
            <a:srgbClr val="0F766E"/>
          </a:solidFill>
          <a:ln w="1016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2880360"/>
            <a:ext cx="1901952" cy="19202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1">
                <a:solidFill>
                  <a:srgbClr val="172331"/>
                </a:solidFill>
                <a:latin typeface="Microsoft YaHei"/>
              </a:rPr>
              <a:t>多层深度对比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3236976"/>
            <a:ext cx="1901952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00" b="0">
                <a:solidFill>
                  <a:srgbClr val="667381"/>
                </a:solidFill>
                <a:latin typeface="Microsoft YaHei"/>
              </a:rPr>
              <a:t>LayeredDepth · 300 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8920" y="2871216"/>
            <a:ext cx="3931920" cy="2103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110" b="1">
                <a:solidFill>
                  <a:srgbClr val="0F766E"/>
                </a:solidFill>
                <a:latin typeface="Microsoft YaHei"/>
              </a:rPr>
              <a:t>4 个界面顺序全对：29.95% → 72.41%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88920" y="3246120"/>
            <a:ext cx="393192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890" b="0">
                <a:solidFill>
                  <a:srgbClr val="667381"/>
                </a:solidFill>
                <a:latin typeface="Microsoft YaHei"/>
              </a:rPr>
              <a:t>多层模型明显更完整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3504" y="3849624"/>
            <a:ext cx="6528816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3504" y="3849624"/>
            <a:ext cx="64008" cy="987552"/>
          </a:xfrm>
          <a:prstGeom prst="rect">
            <a:avLst/>
          </a:prstGeom>
          <a:solidFill>
            <a:srgbClr val="C46B16"/>
          </a:solidFill>
          <a:ln w="10160">
            <a:solidFill>
              <a:srgbClr val="C46B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4005072"/>
            <a:ext cx="1901952" cy="19202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1">
                <a:solidFill>
                  <a:srgbClr val="172331"/>
                </a:solidFill>
                <a:latin typeface="Microsoft YaHei"/>
              </a:rPr>
              <a:t>薄壳几何检查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4361688"/>
            <a:ext cx="1901952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00" b="0">
                <a:solidFill>
                  <a:srgbClr val="667381"/>
                </a:solidFill>
                <a:latin typeface="Microsoft YaHei"/>
              </a:rPr>
              <a:t>TablewareNet · 100 个场景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88920" y="3995928"/>
            <a:ext cx="3931920" cy="2103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110" b="1">
                <a:solidFill>
                  <a:srgbClr val="C46B16"/>
                </a:solidFill>
                <a:latin typeface="Microsoft YaHei"/>
              </a:rPr>
              <a:t>已知真实物体区域时，界面识别 F1 = 79.15%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4370832"/>
            <a:ext cx="393192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890" b="0">
                <a:solidFill>
                  <a:srgbClr val="667381"/>
                </a:solidFill>
                <a:latin typeface="Microsoft YaHei"/>
              </a:rPr>
              <a:t>说明几何路线可行，不是论文正式分数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0064" y="1161288"/>
            <a:ext cx="192024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72331"/>
                </a:solidFill>
                <a:latin typeface="Microsoft YaHei"/>
              </a:rPr>
              <a:t>仍未完成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305288" y="1115568"/>
            <a:ext cx="1280160" cy="292608"/>
          </a:xfrm>
          <a:prstGeom prst="roundRect">
            <a:avLst/>
          </a:prstGeom>
          <a:solidFill>
            <a:srgbClr val="FFF4E8"/>
          </a:solidFill>
          <a:ln w="10160">
            <a:solidFill>
              <a:srgbClr val="FFF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305288" y="1184148"/>
            <a:ext cx="1280160" cy="1188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880" b="1">
                <a:solidFill>
                  <a:srgbClr val="C46B16"/>
                </a:solidFill>
                <a:latin typeface="Microsoft YaHei"/>
              </a:rPr>
              <a:t>暂不下结论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70064" y="1600200"/>
            <a:ext cx="4215384" cy="15544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370064" y="1600200"/>
            <a:ext cx="64008" cy="1554480"/>
          </a:xfrm>
          <a:prstGeom prst="rect">
            <a:avLst/>
          </a:prstGeom>
          <a:solidFill>
            <a:srgbClr val="C46B16"/>
          </a:solidFill>
          <a:ln w="10160">
            <a:solidFill>
              <a:srgbClr val="C46B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26096" y="1792224"/>
            <a:ext cx="3666744" cy="2103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20" b="1">
                <a:solidFill>
                  <a:srgbClr val="172331"/>
                </a:solidFill>
                <a:latin typeface="Microsoft YaHei"/>
              </a:rPr>
              <a:t>TransCG 全量测试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26096" y="2148840"/>
            <a:ext cx="3666744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30" b="0">
                <a:solidFill>
                  <a:srgbClr val="667381"/>
                </a:solidFill>
                <a:latin typeface="Microsoft YaHei"/>
              </a:rPr>
              <a:t>需要 52 个场景 / 23,524 个样本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26096" y="2496312"/>
            <a:ext cx="3666744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30" b="1">
                <a:solidFill>
                  <a:srgbClr val="C46B16"/>
                </a:solidFill>
                <a:latin typeface="Microsoft YaHei"/>
              </a:rPr>
              <a:t>已取得 40 / 52 个场景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26096" y="2825496"/>
            <a:ext cx="3666744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90" b="0">
                <a:solidFill>
                  <a:srgbClr val="667381"/>
                </a:solidFill>
                <a:latin typeface="Microsoft YaHei"/>
              </a:rPr>
              <a:t>缺少 12 个场景，暂不报最终指标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370064" y="3346704"/>
            <a:ext cx="4215384" cy="15544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370064" y="3346704"/>
            <a:ext cx="64008" cy="1554480"/>
          </a:xfrm>
          <a:prstGeom prst="rect">
            <a:avLst/>
          </a:prstGeom>
          <a:solidFill>
            <a:srgbClr val="C46B16"/>
          </a:solidFill>
          <a:ln w="10160">
            <a:solidFill>
              <a:srgbClr val="C46B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26096" y="3538728"/>
            <a:ext cx="3666744" cy="2103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20" b="1">
                <a:solidFill>
                  <a:srgbClr val="172331"/>
                </a:solidFill>
                <a:latin typeface="Microsoft YaHei"/>
              </a:rPr>
              <a:t>机器人抓取收益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26096" y="3895344"/>
            <a:ext cx="3666744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30" b="0">
                <a:solidFill>
                  <a:srgbClr val="667381"/>
                </a:solidFill>
                <a:latin typeface="Microsoft YaHei"/>
              </a:rPr>
              <a:t>还没有公平比较单层与多层输入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26096" y="4242816"/>
            <a:ext cx="3666744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30" b="1">
                <a:solidFill>
                  <a:srgbClr val="C46B16"/>
                </a:solidFill>
                <a:latin typeface="Microsoft YaHei"/>
              </a:rPr>
              <a:t>尚无抓取成功率结论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26096" y="4572000"/>
            <a:ext cx="3666744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90" b="0">
                <a:solidFill>
                  <a:srgbClr val="667381"/>
                </a:solidFill>
                <a:latin typeface="Microsoft YaHei"/>
              </a:rPr>
              <a:t>下一页用同一规划器直接验证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6384" y="5230368"/>
            <a:ext cx="10588752" cy="786384"/>
          </a:xfrm>
          <a:prstGeom prst="roundRect">
            <a:avLst/>
          </a:prstGeom>
          <a:solidFill>
            <a:srgbClr val="EEF4FF"/>
          </a:solidFill>
          <a:ln w="10160">
            <a:solidFill>
              <a:srgbClr val="EE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42415" y="5486400"/>
            <a:ext cx="1261872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2563EB"/>
                </a:solidFill>
                <a:latin typeface="Microsoft YaHei"/>
              </a:rPr>
              <a:t>目前结论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203704" y="5449824"/>
            <a:ext cx="8750808" cy="2834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20" b="1">
                <a:solidFill>
                  <a:srgbClr val="172331"/>
                </a:solidFill>
                <a:latin typeface="Microsoft YaHei"/>
              </a:rPr>
              <a:t>多层深度能更完整地描述透明物体；是否让机器人抓得更稳，还需要下一步实验。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1207" y="6565392"/>
            <a:ext cx="10881360" cy="1371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720" b="0">
                <a:solidFill>
                  <a:srgbClr val="667381"/>
                </a:solidFill>
                <a:latin typeface="Microsoft YaHei"/>
              </a:rPr>
              <a:t>所有数字都来自本地完整运行；未完成的实验不提前写成结论。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12064" y="338328"/>
            <a:ext cx="457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00" b="1">
                <a:solidFill>
                  <a:srgbClr val="0F766E"/>
                </a:solidFill>
                <a:latin typeface="Microsoft YaHei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0120" y="283464"/>
            <a:ext cx="1042416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400" b="1">
                <a:solidFill>
                  <a:srgbClr val="172331"/>
                </a:solidFill>
                <a:latin typeface="Microsoft YaHei"/>
              </a:rPr>
              <a:t>下一步：证明“多层深度是否真的更好抓”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12064" y="850392"/>
            <a:ext cx="11137392" cy="0"/>
          </a:xfrm>
          <a:prstGeom prst="line">
            <a:avLst/>
          </a:prstGeom>
          <a:ln w="11430">
            <a:solidFill>
              <a:srgbClr val="DD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03504" y="1069848"/>
            <a:ext cx="1042416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20" b="0">
                <a:solidFill>
                  <a:srgbClr val="667381"/>
                </a:solidFill>
                <a:latin typeface="Microsoft YaHei"/>
              </a:rPr>
              <a:t>保持物体、物体区域和抓取规划器完全相同，只改变输入的几何信息。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" y="1517904"/>
            <a:ext cx="10268712" cy="630936"/>
          </a:xfrm>
          <a:prstGeom prst="roundRect">
            <a:avLst/>
          </a:prstGeom>
          <a:solidFill>
            <a:srgbClr val="EAF6F4"/>
          </a:solidFill>
          <a:ln w="10160">
            <a:solidFill>
              <a:srgbClr val="EAF6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1719072"/>
            <a:ext cx="981151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420" b="1">
                <a:solidFill>
                  <a:srgbClr val="0F766E"/>
                </a:solidFill>
                <a:latin typeface="Microsoft YaHei"/>
              </a:rPr>
              <a:t>核心问题：只知道最前表面，与知道前后 / 内外表面相比，哪一种抓取错误更少？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532888"/>
            <a:ext cx="3447288" cy="207568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2761488"/>
            <a:ext cx="402336" cy="402336"/>
          </a:xfrm>
          <a:prstGeom prst="ellipse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2878165"/>
            <a:ext cx="402336" cy="1207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26464" y="2798064"/>
            <a:ext cx="2395728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72331"/>
                </a:solidFill>
                <a:latin typeface="Microsoft YaHei"/>
              </a:rPr>
              <a:t>做公平对比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3291840"/>
            <a:ext cx="2898648" cy="6858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/>
            <a:r>
              <a:rPr sz="1070" b="0">
                <a:solidFill>
                  <a:srgbClr val="667381"/>
                </a:solidFill>
                <a:latin typeface="Microsoft YaHei"/>
              </a:rPr>
              <a:t>方案 A：只给最前表面
方案 B：给出完整多层界面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120" y="4114800"/>
            <a:ext cx="2880360" cy="310896"/>
          </a:xfrm>
          <a:prstGeom prst="roundRect">
            <a:avLst/>
          </a:prstGeom>
          <a:solidFill>
            <a:srgbClr val="F5F8FA"/>
          </a:solidFill>
          <a:ln w="10160">
            <a:solidFill>
              <a:srgbClr val="F5F8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1" y="4187952"/>
            <a:ext cx="2734056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869" b="1">
                <a:solidFill>
                  <a:srgbClr val="2563EB"/>
                </a:solidFill>
                <a:latin typeface="Microsoft YaHei"/>
              </a:rPr>
              <a:t>其余条件全部相同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98848" y="2532888"/>
            <a:ext cx="3447288" cy="207568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700016" y="2761488"/>
            <a:ext cx="402336" cy="402336"/>
          </a:xfrm>
          <a:prstGeom prst="ellipse">
            <a:avLst/>
          </a:prstGeom>
          <a:solidFill>
            <a:srgbClr val="C46B16"/>
          </a:solidFill>
          <a:ln>
            <a:solidFill>
              <a:srgbClr val="C46B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00016" y="2878165"/>
            <a:ext cx="402336" cy="1207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48656" y="2798064"/>
            <a:ext cx="2395728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72331"/>
                </a:solidFill>
                <a:latin typeface="Microsoft YaHei"/>
              </a:rPr>
              <a:t>统计三类错误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73168" y="3291840"/>
            <a:ext cx="2898648" cy="6858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/>
            <a:r>
              <a:rPr sz="1070" b="0">
                <a:solidFill>
                  <a:srgbClr val="667381"/>
                </a:solidFill>
                <a:latin typeface="Microsoft YaHei"/>
              </a:rPr>
              <a:t>① 穿过物体外壁
② 把空腔当成实心
③ 抓取位姿碰撞或不可达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82312" y="4114800"/>
            <a:ext cx="2880360" cy="310896"/>
          </a:xfrm>
          <a:prstGeom prst="roundRect">
            <a:avLst/>
          </a:prstGeom>
          <a:solidFill>
            <a:srgbClr val="F5F8FA"/>
          </a:solidFill>
          <a:ln w="10160">
            <a:solidFill>
              <a:srgbClr val="F5F8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55464" y="4187952"/>
            <a:ext cx="2734056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869" b="1">
                <a:solidFill>
                  <a:srgbClr val="C46B16"/>
                </a:solidFill>
                <a:latin typeface="Microsoft YaHei"/>
              </a:rPr>
              <a:t>重复实验，比较错误率和波动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21040" y="2532888"/>
            <a:ext cx="3447288" cy="207568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522208" y="2761488"/>
            <a:ext cx="402336" cy="402336"/>
          </a:xfrm>
          <a:prstGeom prst="ellipse">
            <a:avLst/>
          </a:prstGeom>
          <a:solidFill>
            <a:srgbClr val="15805D"/>
          </a:solidFill>
          <a:ln>
            <a:solidFill>
              <a:srgbClr val="1580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22208" y="2878165"/>
            <a:ext cx="402336" cy="1207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0848" y="2798064"/>
            <a:ext cx="2395728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72331"/>
                </a:solidFill>
                <a:latin typeface="Microsoft YaHei"/>
              </a:rPr>
              <a:t>根据结果决定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0" y="3291840"/>
            <a:ext cx="2898648" cy="6858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/>
            <a:r>
              <a:rPr sz="1070" b="0">
                <a:solidFill>
                  <a:srgbClr val="667381"/>
                </a:solidFill>
                <a:latin typeface="Microsoft YaHei"/>
              </a:rPr>
              <a:t>错误明显减少：训练我们的多层模型
没有减少：先修改规划器或评测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04504" y="4114800"/>
            <a:ext cx="2880360" cy="310896"/>
          </a:xfrm>
          <a:prstGeom prst="roundRect">
            <a:avLst/>
          </a:prstGeom>
          <a:solidFill>
            <a:srgbClr val="F5F8FA"/>
          </a:solidFill>
          <a:ln w="10160">
            <a:solidFill>
              <a:srgbClr val="F5F8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77656" y="4187952"/>
            <a:ext cx="2734056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869" b="1">
                <a:solidFill>
                  <a:srgbClr val="15805D"/>
                </a:solidFill>
                <a:latin typeface="Microsoft YaHei"/>
              </a:rPr>
              <a:t>不盲目堆模型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77824" y="4965192"/>
            <a:ext cx="10433304" cy="585216"/>
          </a:xfrm>
          <a:prstGeom prst="roundRect">
            <a:avLst/>
          </a:prstGeom>
          <a:solidFill>
            <a:srgbClr val="EEF4FF"/>
          </a:solidFill>
          <a:ln w="10160">
            <a:solidFill>
              <a:srgbClr val="EE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5148072"/>
            <a:ext cx="9902952" cy="2103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Microsoft YaHei"/>
              </a:rPr>
              <a:t>同时补齐已有方法：TransCG 剩余 12 个场景，并完成 DFNet / ReMake 全量测试。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91056" y="5907024"/>
            <a:ext cx="9015984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540" b="1">
                <a:solidFill>
                  <a:srgbClr val="0F766E"/>
                </a:solidFill>
                <a:latin typeface="Microsoft YaHei"/>
              </a:rPr>
              <a:t>最终要证明的不是“深度图更漂亮”，而是“机械臂少犯抓取错误”。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" y="6565392"/>
            <a:ext cx="10881360" cy="1371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720" b="0">
                <a:solidFill>
                  <a:srgbClr val="667381"/>
                </a:solidFill>
                <a:latin typeface="Microsoft YaHei"/>
              </a:rPr>
              <a:t>先用真实几何验证价值，再投入训练 DepthHypothesisPack。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