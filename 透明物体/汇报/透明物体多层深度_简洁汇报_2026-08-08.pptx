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3017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</a:rPr>
              <a:t>透明物体抓取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9875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72331"/>
                </a:solidFill>
                <a:latin typeface="Microsoft YaHei"/>
              </a:rPr>
              <a:t>从单一深度到多界面几何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938528"/>
            <a:ext cx="7315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67381"/>
                </a:solidFill>
                <a:latin typeface="Microsoft YaHei"/>
              </a:rPr>
              <a:t>相关工作 · Idea · 复现进度 · 下一步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76656" y="2578608"/>
            <a:ext cx="10808208" cy="0"/>
          </a:xfrm>
          <a:prstGeom prst="line">
            <a:avLst/>
          </a:prstGeom>
          <a:ln w="1270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3273552"/>
            <a:ext cx="1234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667381"/>
                </a:solidFill>
                <a:latin typeface="Microsoft YaHei"/>
              </a:rPr>
              <a:t>普通深度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93392" y="3364992"/>
            <a:ext cx="2715768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834640" y="3255264"/>
            <a:ext cx="219456" cy="219456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3721608"/>
            <a:ext cx="2240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Microsoft YaHei"/>
              </a:rPr>
              <a:t>一个像素 = 一个 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273552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667381"/>
                </a:solidFill>
                <a:latin typeface="Microsoft YaHei"/>
              </a:rPr>
              <a:t>我们的目标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03720" y="3364992"/>
            <a:ext cx="3913632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315200" y="3246120"/>
            <a:ext cx="237744" cy="237744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3675887"/>
            <a:ext cx="51206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667381"/>
                </a:solidFill>
                <a:latin typeface="Microsoft YaHei"/>
              </a:rPr>
              <a:t>外壁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0" y="3246120"/>
            <a:ext cx="237744" cy="237744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3675887"/>
            <a:ext cx="51206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667381"/>
                </a:solidFill>
                <a:latin typeface="Microsoft YaHei"/>
              </a:rPr>
              <a:t>内壁</a:t>
            </a:r>
          </a:p>
        </p:txBody>
      </p:sp>
      <p:sp>
        <p:nvSpPr>
          <p:cNvPr id="16" name="Oval 15"/>
          <p:cNvSpPr/>
          <p:nvPr/>
        </p:nvSpPr>
        <p:spPr>
          <a:xfrm>
            <a:off x="9235440" y="3246120"/>
            <a:ext cx="237744" cy="237744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3675887"/>
            <a:ext cx="51206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667381"/>
                </a:solidFill>
                <a:latin typeface="Microsoft YaHei"/>
              </a:rPr>
              <a:t>内壁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0" y="3246120"/>
            <a:ext cx="237744" cy="237744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3675887"/>
            <a:ext cx="51206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667381"/>
                </a:solidFill>
                <a:latin typeface="Microsoft YaHei"/>
              </a:rPr>
              <a:t>外壁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4032504"/>
            <a:ext cx="31272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F766E"/>
                </a:solidFill>
                <a:latin typeface="Microsoft YaHei"/>
              </a:rPr>
              <a:t>一个像素 = 有序界面事件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5093208"/>
            <a:ext cx="10241280" cy="566928"/>
          </a:xfrm>
          <a:prstGeom prst="roundRect">
            <a:avLst/>
          </a:prstGeom>
          <a:solidFill>
            <a:srgbClr val="EAF6F4"/>
          </a:solidFill>
          <a:ln w="10160">
            <a:solidFill>
              <a:srgbClr val="EA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3856" y="5266944"/>
            <a:ext cx="989380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72331"/>
                </a:solidFill>
                <a:latin typeface="Microsoft YaHei"/>
              </a:rPr>
              <a:t>核心假设：保留外壁、内壁和空腔，能减少抓取规划中的穿壁与“实心化”错误。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6254496"/>
            <a:ext cx="2286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30" b="0">
                <a:solidFill>
                  <a:srgbClr val="667381"/>
                </a:solidFill>
                <a:latin typeface="Microsoft YaHei"/>
              </a:rPr>
              <a:t>阶段汇报 · 2026.08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383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83464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331"/>
                </a:solidFill>
                <a:latin typeface="Microsoft YaHei"/>
              </a:rPr>
              <a:t>硬件进度：从 D455 深度到 PIPER-X 基座已打通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" y="850392"/>
            <a:ext cx="11137392" cy="0"/>
          </a:xfrm>
          <a:prstGeom prst="line">
            <a:avLst/>
          </a:prstGeom>
          <a:ln w="1143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03504" y="1033271"/>
            <a:ext cx="8778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67381"/>
                </a:solidFill>
                <a:latin typeface="Microsoft YaHei"/>
              </a:rPr>
              <a:t>PIPER-X + AGILE.X 夹爪 + Intel RealSense D455 · 实机验证 2026.08.09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93808" y="987552"/>
            <a:ext cx="1645920" cy="292608"/>
          </a:xfrm>
          <a:prstGeom prst="roundRect">
            <a:avLst/>
          </a:prstGeom>
          <a:solidFill>
            <a:srgbClr val="EAF6F4"/>
          </a:solidFill>
          <a:ln w="10160">
            <a:solidFill>
              <a:srgbClr val="EA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93808" y="1056132"/>
            <a:ext cx="1645920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15805D"/>
                </a:solidFill>
                <a:latin typeface="Microsoft YaHei"/>
              </a:rPr>
              <a:t>同步快照已通过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2212848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81328"/>
            <a:ext cx="64008" cy="1298448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37360"/>
            <a:ext cx="18105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72331"/>
                </a:solidFill>
                <a:latin typeface="Microsoft YaHei"/>
              </a:rPr>
              <a:t>末端 D455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39696"/>
            <a:ext cx="184708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69" b="0">
                <a:solidFill>
                  <a:srgbClr val="667381"/>
                </a:solidFill>
                <a:latin typeface="Microsoft YaHei"/>
              </a:rPr>
              <a:t>RGB-D 848×480 @ 30 Hz
USB 3.2 · eye-in-hand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481328"/>
            <a:ext cx="2212848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481328"/>
            <a:ext cx="64008" cy="1298448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1737360"/>
            <a:ext cx="18105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72331"/>
                </a:solidFill>
                <a:latin typeface="Microsoft YaHei"/>
              </a:rPr>
              <a:t>彩色对齐深度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139696"/>
            <a:ext cx="184708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69" b="0">
                <a:solidFill>
                  <a:srgbClr val="667381"/>
                </a:solidFill>
                <a:latin typeface="Microsoft YaHei"/>
              </a:rPr>
              <a:t>camera_p
24 / 24 角点有效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481328"/>
            <a:ext cx="2212848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481328"/>
            <a:ext cx="64008" cy="1298448"/>
          </a:xfrm>
          <a:prstGeom prst="rect">
            <a:avLst/>
          </a:prstGeom>
          <a:solidFill>
            <a:srgbClr val="0F766E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737360"/>
            <a:ext cx="18105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72331"/>
                </a:solidFill>
                <a:latin typeface="Microsoft YaHei"/>
              </a:rPr>
              <a:t>手眼外参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139696"/>
            <a:ext cx="184708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69" b="0">
                <a:solidFill>
                  <a:srgbClr val="667381"/>
                </a:solidFill>
                <a:latin typeface="Microsoft YaHei"/>
              </a:rPr>
              <a:t>flange_T_camera
Park · 15 + 3 姿态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4" y="1481328"/>
            <a:ext cx="2212848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70264" y="1481328"/>
            <a:ext cx="64008" cy="1298448"/>
          </a:xfrm>
          <a:prstGeom prst="rect">
            <a:avLst/>
          </a:prstGeom>
          <a:solidFill>
            <a:srgbClr val="15805D"/>
          </a:solidFill>
          <a:ln w="10160">
            <a:solidFill>
              <a:srgbClr val="158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37360"/>
            <a:ext cx="18105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72331"/>
                </a:solidFill>
                <a:latin typeface="Microsoft YaHei"/>
              </a:rPr>
              <a:t>PIPER-X 基座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4" y="2139696"/>
            <a:ext cx="184708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69" b="0">
                <a:solidFill>
                  <a:srgbClr val="667381"/>
                </a:solidFill>
                <a:latin typeface="Microsoft YaHei"/>
              </a:rPr>
              <a:t>base_T_flange
法兰反馈 + FK</a:t>
            </a:r>
          </a:p>
        </p:txBody>
      </p:sp>
      <p:sp>
        <p:nvSpPr>
          <p:cNvPr id="24" name="Chevron 23"/>
          <p:cNvSpPr/>
          <p:nvPr/>
        </p:nvSpPr>
        <p:spPr>
          <a:xfrm>
            <a:off x="2971800" y="1865376"/>
            <a:ext cx="292608" cy="438912"/>
          </a:xfrm>
          <a:prstGeom prst="chevron">
            <a:avLst/>
          </a:prstGeom>
          <a:solidFill>
            <a:srgbClr val="DDE3E8"/>
          </a:solidFill>
          <a:ln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evron 24"/>
          <p:cNvSpPr/>
          <p:nvPr/>
        </p:nvSpPr>
        <p:spPr>
          <a:xfrm>
            <a:off x="5742432" y="1865376"/>
            <a:ext cx="292608" cy="438912"/>
          </a:xfrm>
          <a:prstGeom prst="chevron">
            <a:avLst/>
          </a:prstGeom>
          <a:solidFill>
            <a:srgbClr val="DDE3E8"/>
          </a:solidFill>
          <a:ln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vron 25"/>
          <p:cNvSpPr/>
          <p:nvPr/>
        </p:nvSpPr>
        <p:spPr>
          <a:xfrm>
            <a:off x="8513064" y="1865376"/>
            <a:ext cx="292608" cy="438912"/>
          </a:xfrm>
          <a:prstGeom prst="chevron">
            <a:avLst/>
          </a:prstGeom>
          <a:solidFill>
            <a:srgbClr val="DDE3E8"/>
          </a:solidFill>
          <a:ln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335024" y="3054096"/>
            <a:ext cx="9509760" cy="530352"/>
          </a:xfrm>
          <a:prstGeom prst="roundRect">
            <a:avLst/>
          </a:prstGeom>
          <a:solidFill>
            <a:srgbClr val="EAF6F4"/>
          </a:solidFill>
          <a:ln w="10160">
            <a:solidFill>
              <a:srgbClr val="EA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45336" y="3209544"/>
            <a:ext cx="90891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F766E"/>
                </a:solidFill>
                <a:latin typeface="Microsoft YaHei"/>
              </a:rPr>
              <a:t>base_p = base_T_flange @ flange_T_camera @ camera_p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913632"/>
            <a:ext cx="2313432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4096512"/>
            <a:ext cx="1984248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19" b="1">
                <a:solidFill>
                  <a:srgbClr val="667381"/>
                </a:solidFill>
                <a:latin typeface="Microsoft YaHei"/>
              </a:rPr>
              <a:t>统一时间戳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4407408"/>
            <a:ext cx="20574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20" b="1">
                <a:solidFill>
                  <a:srgbClr val="15805D"/>
                </a:solidFill>
                <a:latin typeface="Microsoft YaHei"/>
              </a:rPr>
              <a:t>5.420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4736592"/>
            <a:ext cx="2057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30" b="0">
                <a:solidFill>
                  <a:srgbClr val="667381"/>
                </a:solidFill>
                <a:latin typeface="Microsoft YaHei"/>
              </a:rPr>
              <a:t>相机曝光 ↔ 法兰反馈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11296" y="3913632"/>
            <a:ext cx="2313432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5887" y="4096512"/>
            <a:ext cx="1984248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19" b="1">
                <a:solidFill>
                  <a:srgbClr val="667381"/>
                </a:solidFill>
                <a:latin typeface="Microsoft YaHei"/>
              </a:rPr>
              <a:t>手眼独立留出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9312" y="4407408"/>
            <a:ext cx="20574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20" b="1">
                <a:solidFill>
                  <a:srgbClr val="0F766E"/>
                </a:solidFill>
                <a:latin typeface="Microsoft YaHei"/>
              </a:rPr>
              <a:t>3.660 mm / 0.663°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9312" y="4736592"/>
            <a:ext cx="2057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30" b="0">
                <a:solidFill>
                  <a:srgbClr val="667381"/>
                </a:solidFill>
                <a:latin typeface="Microsoft YaHei"/>
              </a:rPr>
              <a:t>3 个未参与求解姿态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64224" y="3913632"/>
            <a:ext cx="2313432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28816" y="4096512"/>
            <a:ext cx="1984248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19" b="1">
                <a:solidFill>
                  <a:srgbClr val="667381"/>
                </a:solidFill>
                <a:latin typeface="Microsoft YaHei"/>
              </a:rPr>
              <a:t>深度板面拟合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407408"/>
            <a:ext cx="20574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20" b="1">
                <a:solidFill>
                  <a:srgbClr val="2563EB"/>
                </a:solidFill>
                <a:latin typeface="Microsoft YaHei"/>
              </a:rPr>
              <a:t>0.692 mm RMS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736592"/>
            <a:ext cx="2057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30" b="0">
                <a:solidFill>
                  <a:srgbClr val="667381"/>
                </a:solidFill>
                <a:latin typeface="Microsoft YaHei"/>
              </a:rPr>
              <a:t>30 mm 边长误差 0.307 mm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17152" y="3913632"/>
            <a:ext cx="2313432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81744" y="4096512"/>
            <a:ext cx="1984248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19" b="1">
                <a:solidFill>
                  <a:srgbClr val="667381"/>
                </a:solidFill>
                <a:latin typeface="Microsoft YaHei"/>
              </a:rPr>
              <a:t>基座位姿一致性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45168" y="4407408"/>
            <a:ext cx="20574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20" b="1">
                <a:solidFill>
                  <a:srgbClr val="C46B16"/>
                </a:solidFill>
                <a:latin typeface="Microsoft YaHei"/>
              </a:rPr>
              <a:t>3.469 mm / 0.513°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5168" y="4736592"/>
            <a:ext cx="2057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30" b="0">
                <a:solidFill>
                  <a:srgbClr val="667381"/>
                </a:solidFill>
                <a:latin typeface="Microsoft YaHei"/>
              </a:rPr>
              <a:t>深度点 → 机器人 Base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5404104"/>
            <a:ext cx="10451592" cy="649224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06424" y="5614416"/>
            <a:ext cx="960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Microsoft YaHei"/>
              </a:rPr>
              <a:t>下一步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1680" y="5577840"/>
            <a:ext cx="89428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80" b="1">
                <a:solidFill>
                  <a:srgbClr val="172331"/>
                </a:solidFill>
                <a:latin typeface="Microsoft YaHei"/>
              </a:rPr>
              <a:t>连续多帧记录 + 法兰位姿插值，接透明物体 mask、目标位姿与抓取。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7" y="6565392"/>
            <a:ext cx="108813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20" b="0">
                <a:solidFill>
                  <a:srgbClr val="667381"/>
                </a:solidFill>
                <a:latin typeface="Microsoft YaHei"/>
              </a:rPr>
              <a:t>统一静态快照已输出 308,677 点 Base PLY；相机支架不可松动。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383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83464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331"/>
                </a:solidFill>
                <a:latin typeface="Microsoft YaHei"/>
              </a:rPr>
              <a:t>相关论文①：单层深度路线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" y="850392"/>
            <a:ext cx="11137392" cy="0"/>
          </a:xfrm>
          <a:prstGeom prst="line">
            <a:avLst/>
          </a:prstGeom>
          <a:ln w="1143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143000"/>
            <a:ext cx="219456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72331"/>
                </a:solidFill>
                <a:latin typeface="Microsoft YaHei"/>
              </a:rPr>
              <a:t>TransCG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43784" y="1106424"/>
            <a:ext cx="685800" cy="292608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43784" y="1175004"/>
            <a:ext cx="685800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2563EB"/>
                </a:solidFill>
                <a:latin typeface="Microsoft YaHei"/>
              </a:rPr>
              <a:t>RAL 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30723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667381"/>
                </a:solidFill>
                <a:latin typeface="Microsoft YaHei"/>
              </a:rPr>
              <a:t>RGB-D 深度补全 + 抓取数据</a:t>
            </a:r>
          </a:p>
        </p:txBody>
      </p:sp>
      <p:pic>
        <p:nvPicPr>
          <p:cNvPr id="9" name="Picture 8" descr="transcg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3751"/>
            <a:ext cx="3072384" cy="19858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1975104"/>
            <a:ext cx="3072384" cy="2423160"/>
          </a:xfrm>
          <a:prstGeom prst="rect">
            <a:avLst/>
          </a:prstGeom>
          <a:noFill/>
          <a:ln w="889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6512" y="1143000"/>
            <a:ext cx="219456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72331"/>
                </a:solidFill>
                <a:latin typeface="Microsoft YaHei"/>
              </a:rPr>
              <a:t>Depth4ToM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91656" y="1106424"/>
            <a:ext cx="685800" cy="292608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175004"/>
            <a:ext cx="685800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2563EB"/>
                </a:solidFill>
                <a:latin typeface="Microsoft YaHei"/>
              </a:rPr>
              <a:t>ICCV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1490472"/>
            <a:ext cx="30723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667381"/>
                </a:solidFill>
                <a:latin typeface="Microsoft YaHei"/>
              </a:rPr>
              <a:t>透明 / 镜面单目深度估计</a:t>
            </a:r>
          </a:p>
        </p:txBody>
      </p:sp>
      <p:pic>
        <p:nvPicPr>
          <p:cNvPr id="15" name="Picture 14" descr="depth4tom_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899" y="1975104"/>
            <a:ext cx="2537608" cy="242315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096512" y="1975104"/>
            <a:ext cx="3072384" cy="2423160"/>
          </a:xfrm>
          <a:prstGeom prst="rect">
            <a:avLst/>
          </a:prstGeom>
          <a:noFill/>
          <a:ln w="889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44383" y="1143000"/>
            <a:ext cx="219456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72331"/>
                </a:solidFill>
                <a:latin typeface="Microsoft YaHei"/>
              </a:rPr>
              <a:t>ReMake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39528" y="1106424"/>
            <a:ext cx="685800" cy="292608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9528" y="1175004"/>
            <a:ext cx="685800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2563EB"/>
                </a:solidFill>
                <a:latin typeface="Microsoft YaHei"/>
              </a:rPr>
              <a:t>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3" y="1490472"/>
            <a:ext cx="30723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667381"/>
                </a:solidFill>
                <a:latin typeface="Microsoft YaHei"/>
              </a:rPr>
              <a:t>mask 辅助的 metric depth + 抓取</a:t>
            </a:r>
          </a:p>
        </p:txBody>
      </p:sp>
      <p:pic>
        <p:nvPicPr>
          <p:cNvPr id="21" name="Picture 20" descr="remake_c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3" y="2346126"/>
            <a:ext cx="3072384" cy="168111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644383" y="1975104"/>
            <a:ext cx="3072384" cy="2423160"/>
          </a:xfrm>
          <a:prstGeom prst="rect">
            <a:avLst/>
          </a:prstGeom>
          <a:noFill/>
          <a:ln w="889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9808" y="4946904"/>
            <a:ext cx="10698480" cy="694944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157216"/>
            <a:ext cx="10241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Microsoft YaHei"/>
              </a:rPr>
              <a:t>共同点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93392" y="5129784"/>
            <a:ext cx="90251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331"/>
                </a:solidFill>
                <a:latin typeface="Microsoft YaHei"/>
              </a:rPr>
              <a:t>都把输出压缩成一张深度图；对透明物体有用，但无法直接表达内壁与空腔。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879592"/>
            <a:ext cx="9601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Microsoft YaHei"/>
              </a:rPr>
              <a:t>这也是 DepthHypothesisPack 要突破的表示瓶颈。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6565392"/>
            <a:ext cx="108813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20" b="0">
                <a:solidFill>
                  <a:srgbClr val="667381"/>
                </a:solidFill>
                <a:latin typeface="Microsoft YaHei"/>
              </a:rPr>
              <a:t>图片截自本地论文 PDF：TransCG、Depth4ToM、ReMake。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383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83464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331"/>
                </a:solidFill>
                <a:latin typeface="Microsoft YaHei"/>
              </a:rPr>
              <a:t>相关论文②：多层深度路线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" y="850392"/>
            <a:ext cx="11137392" cy="0"/>
          </a:xfrm>
          <a:prstGeom prst="line">
            <a:avLst/>
          </a:prstGeom>
          <a:ln w="1143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03504" y="1115568"/>
            <a:ext cx="2194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72331"/>
                </a:solidFill>
                <a:latin typeface="Microsoft YaHei"/>
              </a:rPr>
              <a:t>LayeredDepth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63040"/>
            <a:ext cx="5257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381"/>
                </a:solidFill>
                <a:latin typeface="Microsoft YaHei"/>
              </a:rPr>
              <a:t>提出真实 / 合成 multi-layer benchmark，并定义 layer_first 与 layer_all 评测。</a:t>
            </a:r>
          </a:p>
        </p:txBody>
      </p:sp>
      <p:pic>
        <p:nvPicPr>
          <p:cNvPr id="7" name="Picture 6" descr="layereddepth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159058"/>
            <a:ext cx="5230368" cy="253988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3504" y="1938528"/>
            <a:ext cx="5230368" cy="2980944"/>
          </a:xfrm>
          <a:prstGeom prst="rect">
            <a:avLst/>
          </a:prstGeom>
          <a:noFill/>
          <a:ln w="889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115568"/>
            <a:ext cx="2194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72331"/>
                </a:solidFill>
                <a:latin typeface="Microsoft YaHei"/>
              </a:rPr>
              <a:t>SeeGroup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504" y="1463040"/>
            <a:ext cx="5257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381"/>
                </a:solidFill>
                <a:latin typeface="Microsoft YaHei"/>
              </a:rPr>
              <a:t>沿同一条 ray 预测多个深度，并让模型自适应地组织这些层。</a:t>
            </a:r>
          </a:p>
        </p:txBody>
      </p:sp>
      <p:pic>
        <p:nvPicPr>
          <p:cNvPr id="11" name="Picture 10" descr="seegroup_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2641392"/>
            <a:ext cx="5230368" cy="157521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18504" y="1938528"/>
            <a:ext cx="5230368" cy="2980944"/>
          </a:xfrm>
          <a:prstGeom prst="rect">
            <a:avLst/>
          </a:prstGeom>
          <a:noFill/>
          <a:ln w="889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78992" y="5340096"/>
            <a:ext cx="10040112" cy="612648"/>
          </a:xfrm>
          <a:prstGeom prst="roundRect">
            <a:avLst/>
          </a:prstGeom>
          <a:solidFill>
            <a:srgbClr val="EAF6F4"/>
          </a:solidFill>
          <a:ln w="10160">
            <a:solidFill>
              <a:srgbClr val="EA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5522976"/>
            <a:ext cx="9601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72331"/>
                </a:solidFill>
                <a:latin typeface="Microsoft YaHei"/>
              </a:rPr>
              <a:t>它们证明“多界面可以被感知”；仍未回答“多界面能否让抓取规划更可靠”。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6565392"/>
            <a:ext cx="108813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20" b="0">
                <a:solidFill>
                  <a:srgbClr val="667381"/>
                </a:solidFill>
                <a:latin typeface="Microsoft YaHei"/>
              </a:rPr>
              <a:t>图片截自本地论文 PDF：LayeredDepth、SeeGroup。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383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Microsoft Ya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83464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331"/>
                </a:solidFill>
                <a:latin typeface="Microsoft YaHei"/>
              </a:rPr>
              <a:t>候选技术路线：多界面薄壳表示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" y="850392"/>
            <a:ext cx="11137392" cy="0"/>
          </a:xfrm>
          <a:prstGeom prst="line">
            <a:avLst/>
          </a:prstGeom>
          <a:ln w="1143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57784" y="1078992"/>
            <a:ext cx="98755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667381"/>
                </a:solidFill>
                <a:latin typeface="Microsoft YaHei"/>
              </a:rPr>
              <a:t>每个像素不再只有一个深度，而是保留由近到远的界面、类型和不确定性。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70848" y="1033271"/>
            <a:ext cx="2468880" cy="292608"/>
          </a:xfrm>
          <a:prstGeom prst="roundRect">
            <a:avLst/>
          </a:prstGeom>
          <a:solidFill>
            <a:srgbClr val="EAF6F4"/>
          </a:solidFill>
          <a:ln w="10160">
            <a:solidFill>
              <a:srgbClr val="EA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70848" y="1101851"/>
            <a:ext cx="2468880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0F766E"/>
                </a:solidFill>
                <a:latin typeface="Microsoft YaHei"/>
              </a:rPr>
              <a:t>候选名称：DepthHypothesisPack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1627632"/>
            <a:ext cx="2212848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" y="1627632"/>
            <a:ext cx="64008" cy="1298448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56232"/>
            <a:ext cx="178308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72331"/>
                </a:solidFill>
                <a:latin typeface="Microsoft YaHei"/>
              </a:rPr>
              <a:t>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22576"/>
            <a:ext cx="1783080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67381"/>
                </a:solidFill>
                <a:latin typeface="Microsoft YaHei"/>
              </a:rPr>
              <a:t>RGB + 原始深度
+ 物体区域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627632"/>
            <a:ext cx="3822191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1627632"/>
            <a:ext cx="64008" cy="1298448"/>
          </a:xfrm>
          <a:prstGeom prst="rect">
            <a:avLst/>
          </a:prstGeom>
          <a:solidFill>
            <a:srgbClr val="0F766E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77056" y="1856232"/>
            <a:ext cx="3392424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72331"/>
                </a:solidFill>
                <a:latin typeface="Microsoft YaHei"/>
              </a:rPr>
              <a:t>多界面事件包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7056" y="2322576"/>
            <a:ext cx="3392424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67381"/>
                </a:solidFill>
                <a:latin typeface="Microsoft YaHei"/>
              </a:rPr>
              <a:t>[深度, 存在, 类型, 不确定性] ×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1627632"/>
            <a:ext cx="327355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1627632"/>
            <a:ext cx="64008" cy="1298448"/>
          </a:xfrm>
          <a:prstGeom prst="rect">
            <a:avLst/>
          </a:prstGeom>
          <a:solidFill>
            <a:srgbClr val="15805D"/>
          </a:solidFill>
          <a:ln w="10160">
            <a:solidFill>
              <a:srgbClr val="158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1856232"/>
            <a:ext cx="2843784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72331"/>
                </a:solidFill>
                <a:latin typeface="Microsoft YaHei"/>
              </a:rPr>
              <a:t>薄壳几何与规划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322576"/>
            <a:ext cx="2843784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67381"/>
                </a:solidFill>
                <a:latin typeface="Microsoft YaHei"/>
              </a:rPr>
              <a:t>外壁 / 内壁 / 空腔 / 开口
碰撞与可达性检查</a:t>
            </a:r>
          </a:p>
        </p:txBody>
      </p:sp>
      <p:sp>
        <p:nvSpPr>
          <p:cNvPr id="20" name="Chevron 19"/>
          <p:cNvSpPr/>
          <p:nvPr/>
        </p:nvSpPr>
        <p:spPr>
          <a:xfrm>
            <a:off x="3054096" y="2011680"/>
            <a:ext cx="365760" cy="493776"/>
          </a:xfrm>
          <a:prstGeom prst="chevron">
            <a:avLst/>
          </a:prstGeom>
          <a:solidFill>
            <a:srgbClr val="DDE3E8"/>
          </a:solidFill>
          <a:ln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evron 20"/>
          <p:cNvSpPr/>
          <p:nvPr/>
        </p:nvSpPr>
        <p:spPr>
          <a:xfrm>
            <a:off x="7626096" y="2011680"/>
            <a:ext cx="365760" cy="493776"/>
          </a:xfrm>
          <a:prstGeom prst="chevron">
            <a:avLst/>
          </a:prstGeom>
          <a:solidFill>
            <a:srgbClr val="DDE3E8"/>
          </a:solidFill>
          <a:ln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" y="3246120"/>
            <a:ext cx="10579608" cy="1408176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483864"/>
            <a:ext cx="1920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72331"/>
                </a:solidFill>
                <a:latin typeface="Microsoft YaHei"/>
              </a:rPr>
              <a:t>同一像素的一条相机射线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88920" y="3822191"/>
            <a:ext cx="7799832" cy="0"/>
          </a:xfrm>
          <a:prstGeom prst="line">
            <a:avLst/>
          </a:prstGeom>
          <a:ln w="16510">
            <a:solidFill>
              <a:srgbClr val="6673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767328" y="3822191"/>
            <a:ext cx="1060704" cy="0"/>
          </a:xfrm>
          <a:prstGeom prst="line">
            <a:avLst/>
          </a:prstGeom>
          <a:ln w="63500">
            <a:solidFill>
              <a:srgbClr val="C46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28032" y="3822191"/>
            <a:ext cx="3310128" cy="0"/>
          </a:xfrm>
          <a:prstGeom prst="line">
            <a:avLst/>
          </a:prstGeom>
          <a:ln w="635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138160" y="3822191"/>
            <a:ext cx="1060704" cy="0"/>
          </a:xfrm>
          <a:prstGeom prst="line">
            <a:avLst/>
          </a:prstGeom>
          <a:ln w="63500">
            <a:solidFill>
              <a:srgbClr val="C46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648456" y="3694176"/>
            <a:ext cx="256032" cy="25603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57016" y="3401568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d¹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160520"/>
            <a:ext cx="87782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667381"/>
                </a:solidFill>
                <a:latin typeface="Microsoft YaHei"/>
              </a:rPr>
              <a:t>空气→材料</a:t>
            </a:r>
          </a:p>
        </p:txBody>
      </p:sp>
      <p:sp>
        <p:nvSpPr>
          <p:cNvPr id="31" name="Oval 30"/>
          <p:cNvSpPr/>
          <p:nvPr/>
        </p:nvSpPr>
        <p:spPr>
          <a:xfrm>
            <a:off x="4709160" y="3694176"/>
            <a:ext cx="256032" cy="256032"/>
          </a:xfrm>
          <a:prstGeom prst="ellipse">
            <a:avLst/>
          </a:prstGeom>
          <a:solidFill>
            <a:srgbClr val="C46B16"/>
          </a:solidFill>
          <a:ln>
            <a:solidFill>
              <a:srgbClr val="C46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3401568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C46B16"/>
                </a:solidFill>
                <a:latin typeface="Microsoft YaHei"/>
              </a:rPr>
              <a:t>d²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98264" y="4160520"/>
            <a:ext cx="87782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667381"/>
                </a:solidFill>
                <a:latin typeface="Microsoft YaHei"/>
              </a:rPr>
              <a:t>材料→空腔</a:t>
            </a:r>
          </a:p>
        </p:txBody>
      </p:sp>
      <p:sp>
        <p:nvSpPr>
          <p:cNvPr id="34" name="Oval 33"/>
          <p:cNvSpPr/>
          <p:nvPr/>
        </p:nvSpPr>
        <p:spPr>
          <a:xfrm>
            <a:off x="8019288" y="3694176"/>
            <a:ext cx="256032" cy="256032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3401568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F766E"/>
                </a:solidFill>
                <a:latin typeface="Microsoft YaHei"/>
              </a:rPr>
              <a:t>d³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08392" y="4160520"/>
            <a:ext cx="87782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667381"/>
                </a:solidFill>
                <a:latin typeface="Microsoft YaHei"/>
              </a:rPr>
              <a:t>空腔→材料</a:t>
            </a:r>
          </a:p>
        </p:txBody>
      </p:sp>
      <p:sp>
        <p:nvSpPr>
          <p:cNvPr id="37" name="Oval 36"/>
          <p:cNvSpPr/>
          <p:nvPr/>
        </p:nvSpPr>
        <p:spPr>
          <a:xfrm>
            <a:off x="9079992" y="3694176"/>
            <a:ext cx="256032" cy="256032"/>
          </a:xfrm>
          <a:prstGeom prst="ellipse">
            <a:avLst/>
          </a:prstGeom>
          <a:solidFill>
            <a:srgbClr val="15805D"/>
          </a:solidFill>
          <a:ln>
            <a:solidFill>
              <a:srgbClr val="158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88552" y="3401568"/>
            <a:ext cx="43891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5805D"/>
                </a:solidFill>
                <a:latin typeface="Microsoft YaHei"/>
              </a:rPr>
              <a:t>d⁴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69096" y="4160520"/>
            <a:ext cx="87782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667381"/>
                </a:solidFill>
                <a:latin typeface="Microsoft YaHei"/>
              </a:rPr>
              <a:t>材料→空气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68496" y="4142232"/>
            <a:ext cx="6583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60" b="1">
                <a:solidFill>
                  <a:srgbClr val="C46B16"/>
                </a:solidFill>
                <a:latin typeface="Microsoft YaHei"/>
              </a:rPr>
              <a:t>材料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0488" y="4142232"/>
            <a:ext cx="6583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60" b="1">
                <a:solidFill>
                  <a:srgbClr val="0F766E"/>
                </a:solidFill>
                <a:latin typeface="Microsoft YaHei"/>
              </a:rPr>
              <a:t>空腔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8472" y="4142232"/>
            <a:ext cx="6583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60" b="1">
                <a:solidFill>
                  <a:srgbClr val="C46B16"/>
                </a:solidFill>
                <a:latin typeface="Microsoft YaHei"/>
              </a:rPr>
              <a:t>材料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0392" y="5020056"/>
            <a:ext cx="10488168" cy="822960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FFF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6424" y="5285232"/>
            <a:ext cx="11704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C46B16"/>
                </a:solidFill>
                <a:latin typeface="Microsoft YaHei"/>
              </a:rPr>
              <a:t>当前边界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12848" y="5248656"/>
            <a:ext cx="8732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20" b="1">
                <a:solidFill>
                  <a:srgbClr val="172331"/>
                </a:solidFill>
                <a:latin typeface="Microsoft YaHei"/>
              </a:rPr>
              <a:t>表示定义与评测工具已经实现；多界面预测网络尚未训练，抓取收益尚未验证。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" y="6565392"/>
            <a:ext cx="108813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20" b="0">
                <a:solidFill>
                  <a:srgbClr val="667381"/>
                </a:solidFill>
                <a:latin typeface="Microsoft YaHei"/>
              </a:rPr>
              <a:t>本页是候选方法设计，不是已经完成的模型结果。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383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83464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331"/>
                </a:solidFill>
                <a:latin typeface="Microsoft YaHei"/>
              </a:rPr>
              <a:t>已经实现：ShellBench 统一表示与评测工具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" y="850392"/>
            <a:ext cx="11137392" cy="0"/>
          </a:xfrm>
          <a:prstGeom prst="line">
            <a:avLst/>
          </a:prstGeom>
          <a:ln w="1143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03504" y="1060704"/>
            <a:ext cx="9966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20" b="0">
                <a:solidFill>
                  <a:srgbClr val="667381"/>
                </a:solidFill>
                <a:latin typeface="Microsoft YaHei"/>
              </a:rPr>
              <a:t>它不是一个新模型，而是让单层、多层和完整真值在同一规则下公平比较。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12096" y="1014984"/>
            <a:ext cx="1645920" cy="292608"/>
          </a:xfrm>
          <a:prstGeom prst="roundRect">
            <a:avLst/>
          </a:prstGeom>
          <a:solidFill>
            <a:srgbClr val="EAF6F4"/>
          </a:solidFill>
          <a:ln w="10160">
            <a:solidFill>
              <a:srgbClr val="EA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12096" y="1083564"/>
            <a:ext cx="1645920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15805D"/>
                </a:solidFill>
                <a:latin typeface="Microsoft YaHei"/>
              </a:rPr>
              <a:t>代码与测试已完成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499616"/>
            <a:ext cx="2386584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1499616"/>
            <a:ext cx="64008" cy="621792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618488"/>
            <a:ext cx="9326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1">
                <a:solidFill>
                  <a:srgbClr val="172331"/>
                </a:solidFill>
                <a:latin typeface="Microsoft YaHei"/>
              </a:rPr>
              <a:t>单层深度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46504" y="1600200"/>
            <a:ext cx="10149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90" b="0">
                <a:solidFill>
                  <a:srgbClr val="667381"/>
                </a:solidFill>
                <a:latin typeface="Microsoft YaHei"/>
              </a:rPr>
              <a:t>K = 1；不虚构后表面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2331720"/>
            <a:ext cx="2386584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" y="2331720"/>
            <a:ext cx="64008" cy="621792"/>
          </a:xfrm>
          <a:prstGeom prst="rect">
            <a:avLst/>
          </a:prstGeom>
          <a:solidFill>
            <a:srgbClr val="0F766E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450591"/>
            <a:ext cx="9326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1">
                <a:solidFill>
                  <a:srgbClr val="172331"/>
                </a:solidFill>
                <a:latin typeface="Microsoft YaHei"/>
              </a:rPr>
              <a:t>多层预测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2432303"/>
            <a:ext cx="10149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90" b="0">
                <a:solidFill>
                  <a:srgbClr val="667381"/>
                </a:solidFill>
                <a:latin typeface="Microsoft YaHei"/>
              </a:rPr>
              <a:t>K 可变；保留深度顺序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3163824"/>
            <a:ext cx="2386584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" y="3163824"/>
            <a:ext cx="64008" cy="621792"/>
          </a:xfrm>
          <a:prstGeom prst="rect">
            <a:avLst/>
          </a:prstGeom>
          <a:solidFill>
            <a:srgbClr val="C46B16"/>
          </a:solidFill>
          <a:ln w="10160">
            <a:solidFill>
              <a:srgbClr val="C46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3282696"/>
            <a:ext cx="9326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1">
                <a:solidFill>
                  <a:srgbClr val="172331"/>
                </a:solidFill>
                <a:latin typeface="Microsoft YaHei"/>
              </a:rPr>
              <a:t>完整真值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46504" y="3264408"/>
            <a:ext cx="10149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90" b="0">
                <a:solidFill>
                  <a:srgbClr val="667381"/>
                </a:solidFill>
                <a:latin typeface="Microsoft YaHei"/>
              </a:rPr>
              <a:t>TablewareNet 射线求交</a:t>
            </a:r>
          </a:p>
        </p:txBody>
      </p:sp>
      <p:sp>
        <p:nvSpPr>
          <p:cNvPr id="20" name="Chevron 19"/>
          <p:cNvSpPr/>
          <p:nvPr/>
        </p:nvSpPr>
        <p:spPr>
          <a:xfrm>
            <a:off x="3154680" y="2331720"/>
            <a:ext cx="347472" cy="493776"/>
          </a:xfrm>
          <a:prstGeom prst="chevron">
            <a:avLst/>
          </a:prstGeom>
          <a:solidFill>
            <a:srgbClr val="DDE3E8"/>
          </a:solidFill>
          <a:ln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48456" y="1755648"/>
            <a:ext cx="3154680" cy="1856231"/>
          </a:xfrm>
          <a:prstGeom prst="roundRect">
            <a:avLst/>
          </a:prstGeom>
          <a:solidFill>
            <a:srgbClr val="EAF6F4"/>
          </a:solidFill>
          <a:ln w="10160">
            <a:solidFill>
              <a:srgbClr val="EA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2002536"/>
            <a:ext cx="25877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20" b="1">
                <a:solidFill>
                  <a:srgbClr val="0F766E"/>
                </a:solidFill>
                <a:latin typeface="Microsoft YaHei"/>
              </a:rPr>
              <a:t>统一 RayEvents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1648" y="2441448"/>
            <a:ext cx="2368296" cy="8138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19" b="0">
                <a:solidFill>
                  <a:srgbClr val="172331"/>
                </a:solidFill>
                <a:latin typeface="Microsoft YaHei"/>
              </a:rPr>
              <a:t>depths_m        [K,H,W]
valid_mask       [K,H,W]
transition_type  [K,H,W]
uncertainty_m    可选</a:t>
            </a:r>
          </a:p>
        </p:txBody>
      </p:sp>
      <p:sp>
        <p:nvSpPr>
          <p:cNvPr id="24" name="Chevron 23"/>
          <p:cNvSpPr/>
          <p:nvPr/>
        </p:nvSpPr>
        <p:spPr>
          <a:xfrm>
            <a:off x="6949440" y="2331720"/>
            <a:ext cx="347472" cy="493776"/>
          </a:xfrm>
          <a:prstGeom prst="chevron">
            <a:avLst/>
          </a:prstGeom>
          <a:solidFill>
            <a:srgbClr val="DDE3E8"/>
          </a:solidFill>
          <a:ln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43216" y="1499616"/>
            <a:ext cx="4142232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54112" y="1764792"/>
            <a:ext cx="3520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20" b="1">
                <a:solidFill>
                  <a:srgbClr val="172331"/>
                </a:solidFill>
                <a:latin typeface="Microsoft YaHei"/>
              </a:rPr>
              <a:t>统一评分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2194560"/>
            <a:ext cx="166420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40" b="0">
                <a:solidFill>
                  <a:srgbClr val="667381"/>
                </a:solidFill>
                <a:latin typeface="Microsoft YaHei"/>
              </a:rPr>
              <a:t>界面是否找全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2194560"/>
            <a:ext cx="184708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40" b="1">
                <a:solidFill>
                  <a:srgbClr val="2563EB"/>
                </a:solidFill>
                <a:latin typeface="Microsoft YaHei"/>
              </a:rPr>
              <a:t>Precision / Recall / F1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2587752"/>
            <a:ext cx="166420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40" b="0">
                <a:solidFill>
                  <a:srgbClr val="667381"/>
                </a:solidFill>
                <a:latin typeface="Microsoft YaHei"/>
              </a:rPr>
              <a:t>界面数量是否正确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8" y="2587752"/>
            <a:ext cx="184708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40" b="1">
                <a:solidFill>
                  <a:srgbClr val="2563EB"/>
                </a:solidFill>
                <a:latin typeface="Microsoft YaHei"/>
              </a:rPr>
              <a:t>Event-count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2980944"/>
            <a:ext cx="166420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40" b="0">
                <a:solidFill>
                  <a:srgbClr val="667381"/>
                </a:solidFill>
                <a:latin typeface="Microsoft YaHei"/>
              </a:rPr>
              <a:t>深度偏差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8" y="2980944"/>
            <a:ext cx="184708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40" b="1">
                <a:solidFill>
                  <a:srgbClr val="2563EB"/>
                </a:solidFill>
                <a:latin typeface="Microsoft YaHei"/>
              </a:rPr>
              <a:t>匹配后的 MAE / RMSE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3374136"/>
            <a:ext cx="166420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40" b="0">
                <a:solidFill>
                  <a:srgbClr val="667381"/>
                </a:solidFill>
                <a:latin typeface="Microsoft YaHei"/>
              </a:rPr>
              <a:t>材料转换是否正确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5168" y="3374136"/>
            <a:ext cx="184708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40" b="1">
                <a:solidFill>
                  <a:srgbClr val="2563EB"/>
                </a:solidFill>
                <a:latin typeface="Microsoft YaHei"/>
              </a:rPr>
              <a:t>Transition / topology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" y="4325112"/>
            <a:ext cx="10488168" cy="548640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5568" y="4507992"/>
            <a:ext cx="4288536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60" b="1">
                <a:solidFill>
                  <a:srgbClr val="0F766E"/>
                </a:solidFill>
                <a:latin typeface="Microsoft YaHei"/>
              </a:rPr>
              <a:t>合法拓扑：空气 → 材料 → 空腔 → 材料 → 空气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04688" y="4507992"/>
            <a:ext cx="5477256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80" b="1">
                <a:solidFill>
                  <a:srgbClr val="172331"/>
                </a:solidFill>
                <a:latin typeface="Microsoft YaHei"/>
              </a:rPr>
              <a:t>坐标链：(u,v,dₖ) → 相机点 → 手眼外参 → PIPER Base 薄壳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0392" y="5166360"/>
            <a:ext cx="5010912" cy="694944"/>
          </a:xfrm>
          <a:prstGeom prst="roundRect">
            <a:avLst/>
          </a:prstGeom>
          <a:solidFill>
            <a:srgbClr val="EAF6F4"/>
          </a:solidFill>
          <a:ln w="10160">
            <a:solidFill>
              <a:srgbClr val="EA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5376672"/>
            <a:ext cx="10058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40" b="1">
                <a:solidFill>
                  <a:srgbClr val="15805D"/>
                </a:solidFill>
                <a:latin typeface="Microsoft YaHei"/>
              </a:rPr>
              <a:t>已经完成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39112" y="5358384"/>
            <a:ext cx="3529584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172331"/>
                </a:solidFill>
                <a:latin typeface="Microsoft YaHei"/>
              </a:rPr>
              <a:t>数据格式 · 转换器 · 真值生成 · 评测 · 单元/集成测试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53328" y="5166360"/>
            <a:ext cx="5285232" cy="694944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FFF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5376672"/>
            <a:ext cx="10058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40" b="1">
                <a:solidFill>
                  <a:srgbClr val="C46B16"/>
                </a:solidFill>
                <a:latin typeface="Microsoft YaHei"/>
              </a:rPr>
              <a:t>尚未完成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51192" y="5358384"/>
            <a:ext cx="37764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80" b="1">
                <a:solidFill>
                  <a:srgbClr val="172331"/>
                </a:solidFill>
                <a:latin typeface="Microsoft YaHei"/>
              </a:rPr>
              <a:t>预测网络 · 三维薄壳提升 · 规划器对照 · 实机闭环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7" y="6565392"/>
            <a:ext cx="108813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20" b="0">
                <a:solidFill>
                  <a:srgbClr val="667381"/>
                </a:solidFill>
                <a:latin typeface="Microsoft YaHei"/>
              </a:rPr>
              <a:t>ShellBench 已能评价表示质量，但尚未产生机器人抓取成功率结论。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383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Microsoft Ya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83464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331"/>
                </a:solidFill>
                <a:latin typeface="Microsoft YaHei"/>
              </a:rPr>
              <a:t>复现进度：已经证明什么，还缺什么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" y="850392"/>
            <a:ext cx="11137392" cy="0"/>
          </a:xfrm>
          <a:prstGeom prst="line">
            <a:avLst/>
          </a:prstGeom>
          <a:ln w="1143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03504" y="1161288"/>
            <a:ext cx="2103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331"/>
                </a:solidFill>
                <a:latin typeface="Microsoft YaHei"/>
              </a:rPr>
              <a:t>已完成的证据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1115568"/>
            <a:ext cx="1115568" cy="292608"/>
          </a:xfrm>
          <a:prstGeom prst="roundRect">
            <a:avLst/>
          </a:prstGeom>
          <a:solidFill>
            <a:srgbClr val="EAF6F4"/>
          </a:solidFill>
          <a:ln w="10160">
            <a:solidFill>
              <a:srgbClr val="EA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184148"/>
            <a:ext cx="1115568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15805D"/>
                </a:solidFill>
                <a:latin typeface="Microsoft YaHei"/>
              </a:rPr>
              <a:t>结果可信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600200"/>
            <a:ext cx="6528816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" y="1600200"/>
            <a:ext cx="64008" cy="987552"/>
          </a:xfrm>
          <a:prstGeom prst="rect">
            <a:avLst/>
          </a:prstGeom>
          <a:solidFill>
            <a:srgbClr val="15805D"/>
          </a:solidFill>
          <a:ln w="10160">
            <a:solidFill>
              <a:srgbClr val="158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755648"/>
            <a:ext cx="1901952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72331"/>
                </a:solidFill>
                <a:latin typeface="Microsoft YaHei"/>
              </a:rPr>
              <a:t>单层深度基线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12264"/>
            <a:ext cx="190195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7381"/>
                </a:solidFill>
                <a:latin typeface="Microsoft YaHei"/>
              </a:rPr>
              <a:t>Booster · 228 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746504"/>
            <a:ext cx="39319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10" b="1">
                <a:solidFill>
                  <a:srgbClr val="15805D"/>
                </a:solidFill>
                <a:latin typeface="Microsoft YaHei"/>
              </a:rPr>
              <a:t>均方根误差 136.28 mm（约 13.6 cm）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121408"/>
            <a:ext cx="3931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90" b="0">
                <a:solidFill>
                  <a:srgbClr val="667381"/>
                </a:solidFill>
                <a:latin typeface="Microsoft YaHei"/>
              </a:rPr>
              <a:t>与论文表格一致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" y="2724912"/>
            <a:ext cx="6528816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" y="2724912"/>
            <a:ext cx="64008" cy="987552"/>
          </a:xfrm>
          <a:prstGeom prst="rect">
            <a:avLst/>
          </a:prstGeom>
          <a:solidFill>
            <a:srgbClr val="0F766E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880360"/>
            <a:ext cx="1901952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72331"/>
                </a:solidFill>
                <a:latin typeface="Microsoft YaHei"/>
              </a:rPr>
              <a:t>多层深度对比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236976"/>
            <a:ext cx="190195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7381"/>
                </a:solidFill>
                <a:latin typeface="Microsoft YaHei"/>
              </a:rPr>
              <a:t>LayeredDepth · 300 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871216"/>
            <a:ext cx="39319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10" b="1">
                <a:solidFill>
                  <a:srgbClr val="0F766E"/>
                </a:solidFill>
                <a:latin typeface="Microsoft YaHei"/>
              </a:rPr>
              <a:t>4 个界面顺序全对：29.95% → 72.41%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246120"/>
            <a:ext cx="3931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90" b="0">
                <a:solidFill>
                  <a:srgbClr val="667381"/>
                </a:solidFill>
                <a:latin typeface="Microsoft YaHei"/>
              </a:rPr>
              <a:t>多层模型明显更完整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3849624"/>
            <a:ext cx="6528816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" y="3849624"/>
            <a:ext cx="64008" cy="987552"/>
          </a:xfrm>
          <a:prstGeom prst="rect">
            <a:avLst/>
          </a:prstGeom>
          <a:solidFill>
            <a:srgbClr val="C46B16"/>
          </a:solidFill>
          <a:ln w="10160">
            <a:solidFill>
              <a:srgbClr val="C46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005072"/>
            <a:ext cx="1901952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72331"/>
                </a:solidFill>
                <a:latin typeface="Microsoft YaHei"/>
              </a:rPr>
              <a:t>薄壳几何检查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361688"/>
            <a:ext cx="190195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7381"/>
                </a:solidFill>
                <a:latin typeface="Microsoft YaHei"/>
              </a:rPr>
              <a:t>TablewareNet · 100 个场景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3995928"/>
            <a:ext cx="39319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10" b="1">
                <a:solidFill>
                  <a:srgbClr val="C46B16"/>
                </a:solidFill>
                <a:latin typeface="Microsoft YaHei"/>
              </a:rPr>
              <a:t>已知真实物体区域时，界面识别 F1 = 79.15%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370832"/>
            <a:ext cx="3931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90" b="0">
                <a:solidFill>
                  <a:srgbClr val="667381"/>
                </a:solidFill>
                <a:latin typeface="Microsoft YaHei"/>
              </a:rPr>
              <a:t>说明几何路线可行，不是论文正式分数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4" y="1161288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331"/>
                </a:solidFill>
                <a:latin typeface="Microsoft YaHei"/>
              </a:rPr>
              <a:t>仍未完成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05288" y="1115568"/>
            <a:ext cx="1280160" cy="292608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FFF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05288" y="1184148"/>
            <a:ext cx="1280160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C46B16"/>
                </a:solidFill>
                <a:latin typeface="Microsoft YaHei"/>
              </a:rPr>
              <a:t>暂不下结论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70064" y="1600200"/>
            <a:ext cx="4215384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70064" y="1600200"/>
            <a:ext cx="64008" cy="1554480"/>
          </a:xfrm>
          <a:prstGeom prst="rect">
            <a:avLst/>
          </a:prstGeom>
          <a:solidFill>
            <a:srgbClr val="C46B16"/>
          </a:solidFill>
          <a:ln w="10160">
            <a:solidFill>
              <a:srgbClr val="C46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6096" y="1792224"/>
            <a:ext cx="366674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20" b="1">
                <a:solidFill>
                  <a:srgbClr val="172331"/>
                </a:solidFill>
                <a:latin typeface="Microsoft YaHei"/>
              </a:rPr>
              <a:t>TransCG 全量测试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6096" y="2148840"/>
            <a:ext cx="366674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30" b="0">
                <a:solidFill>
                  <a:srgbClr val="667381"/>
                </a:solidFill>
                <a:latin typeface="Microsoft YaHei"/>
              </a:rPr>
              <a:t>需要 52 个场景 / 23,524 个样本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6096" y="2496312"/>
            <a:ext cx="366674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1">
                <a:solidFill>
                  <a:srgbClr val="C46B16"/>
                </a:solidFill>
                <a:latin typeface="Microsoft YaHei"/>
              </a:rPr>
              <a:t>已取得 40 / 52 个场景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6096" y="2825496"/>
            <a:ext cx="366674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90" b="0">
                <a:solidFill>
                  <a:srgbClr val="667381"/>
                </a:solidFill>
                <a:latin typeface="Microsoft YaHei"/>
              </a:rPr>
              <a:t>缺少 12 个场景，暂不报最终指标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70064" y="3346704"/>
            <a:ext cx="4215384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70064" y="3346704"/>
            <a:ext cx="64008" cy="1554480"/>
          </a:xfrm>
          <a:prstGeom prst="rect">
            <a:avLst/>
          </a:prstGeom>
          <a:solidFill>
            <a:srgbClr val="C46B16"/>
          </a:solidFill>
          <a:ln w="10160">
            <a:solidFill>
              <a:srgbClr val="C46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26096" y="3538728"/>
            <a:ext cx="366674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20" b="1">
                <a:solidFill>
                  <a:srgbClr val="172331"/>
                </a:solidFill>
                <a:latin typeface="Microsoft YaHei"/>
              </a:rPr>
              <a:t>机器人抓取收益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6096" y="3895344"/>
            <a:ext cx="366674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30" b="0">
                <a:solidFill>
                  <a:srgbClr val="667381"/>
                </a:solidFill>
                <a:latin typeface="Microsoft YaHei"/>
              </a:rPr>
              <a:t>还没有公平比较单层与多层输入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4242816"/>
            <a:ext cx="366674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1">
                <a:solidFill>
                  <a:srgbClr val="C46B16"/>
                </a:solidFill>
                <a:latin typeface="Microsoft YaHei"/>
              </a:rPr>
              <a:t>尚无抓取成功率结论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6096" y="4572000"/>
            <a:ext cx="366674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90" b="0">
                <a:solidFill>
                  <a:srgbClr val="667381"/>
                </a:solidFill>
                <a:latin typeface="Microsoft YaHei"/>
              </a:rPr>
              <a:t>下一页用同一规划器直接验证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6384" y="5230368"/>
            <a:ext cx="10588752" cy="786384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2415" y="5486400"/>
            <a:ext cx="126187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目前结论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03704" y="5449824"/>
            <a:ext cx="875080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20" b="1">
                <a:solidFill>
                  <a:srgbClr val="172331"/>
                </a:solidFill>
                <a:latin typeface="Microsoft YaHei"/>
              </a:rPr>
              <a:t>多层深度能更完整地描述透明物体；是否让机器人抓得更稳，还需要下一步实验。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7" y="6565392"/>
            <a:ext cx="108813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20" b="0">
                <a:solidFill>
                  <a:srgbClr val="667381"/>
                </a:solidFill>
                <a:latin typeface="Microsoft YaHei"/>
              </a:rPr>
              <a:t>所有数字都来自本地完整运行；未完成的实验不提前写成结论。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383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Microsoft YaHe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83464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331"/>
                </a:solidFill>
                <a:latin typeface="Microsoft YaHei"/>
              </a:rPr>
              <a:t>下一步：证明“多层深度是否真的更好抓”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" y="850392"/>
            <a:ext cx="11137392" cy="0"/>
          </a:xfrm>
          <a:prstGeom prst="line">
            <a:avLst/>
          </a:prstGeom>
          <a:ln w="1143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03504" y="1069848"/>
            <a:ext cx="10424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20" b="0">
                <a:solidFill>
                  <a:srgbClr val="667381"/>
                </a:solidFill>
                <a:latin typeface="Microsoft YaHei"/>
              </a:rPr>
              <a:t>保持物体、物体区域和抓取规划器完全相同，只改变输入的几何信息。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517904"/>
            <a:ext cx="10268712" cy="630936"/>
          </a:xfrm>
          <a:prstGeom prst="roundRect">
            <a:avLst/>
          </a:prstGeom>
          <a:solidFill>
            <a:srgbClr val="EAF6F4"/>
          </a:solidFill>
          <a:ln w="10160">
            <a:solidFill>
              <a:srgbClr val="EA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19072"/>
            <a:ext cx="98115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20" b="1">
                <a:solidFill>
                  <a:srgbClr val="0F766E"/>
                </a:solidFill>
                <a:latin typeface="Microsoft YaHei"/>
              </a:rPr>
              <a:t>核心问题：只知道最前表面，与知道前后 / 内外表面相比，哪一种抓取错误更少？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32888"/>
            <a:ext cx="3447288" cy="2075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761488"/>
            <a:ext cx="402336" cy="402336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878165"/>
            <a:ext cx="402336" cy="1207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2798064"/>
            <a:ext cx="23957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331"/>
                </a:solidFill>
                <a:latin typeface="Microsoft YaHei"/>
              </a:rPr>
              <a:t>做公平对比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291840"/>
            <a:ext cx="2898648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70" b="0">
                <a:solidFill>
                  <a:srgbClr val="667381"/>
                </a:solidFill>
                <a:latin typeface="Microsoft YaHei"/>
              </a:rPr>
              <a:t>方案 A：只给最前表面
方案 B：给出完整多层界面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114800"/>
            <a:ext cx="2880360" cy="310896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4187952"/>
            <a:ext cx="273405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69" b="1">
                <a:solidFill>
                  <a:srgbClr val="2563EB"/>
                </a:solidFill>
                <a:latin typeface="Microsoft YaHei"/>
              </a:rPr>
              <a:t>其余条件全部相同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98848" y="2532888"/>
            <a:ext cx="3447288" cy="2075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00016" y="2761488"/>
            <a:ext cx="402336" cy="402336"/>
          </a:xfrm>
          <a:prstGeom prst="ellipse">
            <a:avLst/>
          </a:prstGeom>
          <a:solidFill>
            <a:srgbClr val="C46B16"/>
          </a:solidFill>
          <a:ln>
            <a:solidFill>
              <a:srgbClr val="C46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2878165"/>
            <a:ext cx="402336" cy="1207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2798064"/>
            <a:ext cx="23957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331"/>
                </a:solidFill>
                <a:latin typeface="Microsoft YaHei"/>
              </a:rPr>
              <a:t>统计三类错误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3291840"/>
            <a:ext cx="2898648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70" b="0">
                <a:solidFill>
                  <a:srgbClr val="667381"/>
                </a:solidFill>
                <a:latin typeface="Microsoft YaHei"/>
              </a:rPr>
              <a:t>① 穿过物体外壁
② 把空腔当成实心
③ 抓取位姿碰撞或不可达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82312" y="4114800"/>
            <a:ext cx="2880360" cy="310896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55464" y="4187952"/>
            <a:ext cx="273405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69" b="1">
                <a:solidFill>
                  <a:srgbClr val="C46B16"/>
                </a:solidFill>
                <a:latin typeface="Microsoft YaHei"/>
              </a:rPr>
              <a:t>重复实验，比较错误率和波动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2532888"/>
            <a:ext cx="3447288" cy="2075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22208" y="2761488"/>
            <a:ext cx="402336" cy="402336"/>
          </a:xfrm>
          <a:prstGeom prst="ellipse">
            <a:avLst/>
          </a:prstGeom>
          <a:solidFill>
            <a:srgbClr val="15805D"/>
          </a:solidFill>
          <a:ln>
            <a:solidFill>
              <a:srgbClr val="158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8" y="2878165"/>
            <a:ext cx="402336" cy="1207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2798064"/>
            <a:ext cx="23957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331"/>
                </a:solidFill>
                <a:latin typeface="Microsoft YaHei"/>
              </a:rPr>
              <a:t>根据结果决定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291840"/>
            <a:ext cx="2898648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70" b="0">
                <a:solidFill>
                  <a:srgbClr val="667381"/>
                </a:solidFill>
                <a:latin typeface="Microsoft YaHei"/>
              </a:rPr>
              <a:t>错误明显减少：训练我们的多层模型
没有减少：先修改规划器或评测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04504" y="4114800"/>
            <a:ext cx="2880360" cy="310896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77656" y="4187952"/>
            <a:ext cx="273405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69" b="1">
                <a:solidFill>
                  <a:srgbClr val="15805D"/>
                </a:solidFill>
                <a:latin typeface="Microsoft YaHei"/>
              </a:rPr>
              <a:t>不盲目堆模型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4" y="4965192"/>
            <a:ext cx="10433304" cy="585216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5148072"/>
            <a:ext cx="990295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Microsoft YaHei"/>
              </a:rPr>
              <a:t>同时补齐已有方法：TransCG 剩余 12 个场景，并完成 DFNet / ReMake 全量测试。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91056" y="5907024"/>
            <a:ext cx="901598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40" b="1">
                <a:solidFill>
                  <a:srgbClr val="0F766E"/>
                </a:solidFill>
                <a:latin typeface="Microsoft YaHei"/>
              </a:rPr>
              <a:t>最终要证明的不是“深度图更漂亮”，而是“机械臂少犯抓取错误”。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" y="6565392"/>
            <a:ext cx="108813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20" b="0">
                <a:solidFill>
                  <a:srgbClr val="667381"/>
                </a:solidFill>
                <a:latin typeface="Microsoft YaHei"/>
              </a:rPr>
              <a:t>先用真实几何验证价值，再投入训练多界面预测模型。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383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Microsoft Ya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83464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331"/>
                </a:solidFill>
                <a:latin typeface="Microsoft YaHei"/>
              </a:rPr>
              <a:t>技术备用页：匹配、指标与因果对照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" y="850392"/>
            <a:ext cx="11137392" cy="0"/>
          </a:xfrm>
          <a:prstGeom prst="line">
            <a:avLst/>
          </a:prstGeom>
          <a:ln w="1143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222992" y="1024128"/>
            <a:ext cx="1335024" cy="292608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22992" y="1092708"/>
            <a:ext cx="1335024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2563EB"/>
                </a:solidFill>
                <a:latin typeface="Microsoft YaHei"/>
              </a:rPr>
              <a:t>追问时展示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353312"/>
            <a:ext cx="5358384" cy="2688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627632"/>
            <a:ext cx="2514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331"/>
                </a:solidFill>
                <a:latin typeface="Microsoft YaHei"/>
              </a:rPr>
              <a:t>1｜有序界面匹配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03120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67381"/>
                </a:solidFill>
                <a:latin typeface="Microsoft YaHei"/>
              </a:rPr>
              <a:t>真值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2084831"/>
            <a:ext cx="3611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0F766E"/>
                </a:solidFill>
                <a:latin typeface="Microsoft YaHei"/>
              </a:rPr>
              <a:t>0.400   0.405   0.490   0.495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23744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667381"/>
                </a:solidFill>
                <a:latin typeface="Microsoft YaHei"/>
              </a:rPr>
              <a:t>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505456"/>
            <a:ext cx="36118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C46B16"/>
                </a:solidFill>
                <a:latin typeface="Microsoft YaHei"/>
              </a:rPr>
              <a:t>0.402      缺失      0.492   0.497 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45920" y="2907792"/>
            <a:ext cx="3374136" cy="0"/>
          </a:xfrm>
          <a:prstGeom prst="line">
            <a:avLst/>
          </a:prstGeom>
          <a:ln w="1143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96112" y="3127248"/>
            <a:ext cx="22128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172331"/>
                </a:solidFill>
                <a:latin typeface="Microsoft YaHei"/>
              </a:rPr>
              <a:t>动态规划按三个规则匹配：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46542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7381"/>
                </a:solidFill>
                <a:latin typeface="Microsoft YaHei"/>
              </a:rPr>
              <a:t>① 保持由近到远　② 先让匹配数最多　③ 再让总误差最小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767328"/>
            <a:ext cx="46542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Microsoft YaHei"/>
              </a:rPr>
              <a:t>只有误差 ≤ δ 的界面可匹配；δ 可配置，示例为 5 mm。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1353312"/>
            <a:ext cx="5358384" cy="2688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1627632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331"/>
                </a:solidFill>
                <a:latin typeface="Microsoft YaHei"/>
              </a:rPr>
              <a:t>2｜评分指标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075688"/>
            <a:ext cx="2249424" cy="1271016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1696" y="2331720"/>
            <a:ext cx="181051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40" b="1">
                <a:solidFill>
                  <a:srgbClr val="2563EB"/>
                </a:solidFill>
                <a:latin typeface="Microsoft YaHei"/>
              </a:rPr>
              <a:t>P = 匹配数 / 预测数
R = 匹配数 / 真值数
F1 = 2PR / (P + 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408" y="2075688"/>
            <a:ext cx="2249424" cy="1271016"/>
          </a:xfrm>
          <a:prstGeom prst="roundRect">
            <a:avLst/>
          </a:prstGeom>
          <a:solidFill>
            <a:srgbClr val="EAF6F4"/>
          </a:solidFill>
          <a:ln w="10160">
            <a:solidFill>
              <a:srgbClr val="EA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2313432"/>
            <a:ext cx="182880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F766E"/>
                </a:solidFill>
                <a:latin typeface="Microsoft YaHei"/>
              </a:rPr>
              <a:t>界面数量正确率
匹配深度 MAE / RMSE
类型 F1 / 拓扑合法率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3566160"/>
            <a:ext cx="470001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30" b="1">
                <a:solidFill>
                  <a:srgbClr val="667381"/>
                </a:solidFill>
                <a:latin typeface="Microsoft YaHei"/>
              </a:rPr>
              <a:t>漏掉后层会降低 Recall；多报假界面会降低 Precision，不能只看匹配后的深度误差。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25112"/>
            <a:ext cx="259689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2331"/>
                </a:solidFill>
                <a:latin typeface="Microsoft YaHei"/>
              </a:rPr>
              <a:t>3｜三组因果对照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00016"/>
            <a:ext cx="3255264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700016"/>
            <a:ext cx="64008" cy="1133856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4928616"/>
            <a:ext cx="28346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10" b="1">
                <a:solidFill>
                  <a:srgbClr val="172331"/>
                </a:solidFill>
                <a:latin typeface="Microsoft YaHei"/>
              </a:rPr>
              <a:t>A｜GT-front + 固定规划器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5330952"/>
            <a:ext cx="2761488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40" b="0">
                <a:solidFill>
                  <a:srgbClr val="667381"/>
                </a:solidFill>
                <a:latin typeface="Microsoft YaHei"/>
              </a:rPr>
              <a:t>只给最前表面
建立单层基准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4700016"/>
            <a:ext cx="3255264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0" y="4700016"/>
            <a:ext cx="64008" cy="1133856"/>
          </a:xfrm>
          <a:prstGeom prst="rect">
            <a:avLst/>
          </a:prstGeom>
          <a:solidFill>
            <a:srgbClr val="0F766E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5968" y="4928616"/>
            <a:ext cx="28346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10" b="1">
                <a:solidFill>
                  <a:srgbClr val="172331"/>
                </a:solidFill>
                <a:latin typeface="Microsoft YaHei"/>
              </a:rPr>
              <a:t>B｜GT-full + 同一规划器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52544" y="5330952"/>
            <a:ext cx="2761488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40" b="0">
                <a:solidFill>
                  <a:srgbClr val="667381"/>
                </a:solidFill>
                <a:latin typeface="Microsoft YaHei"/>
              </a:rPr>
              <a:t>只替换完整薄壳几何
隔离“表示”的收益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4700016"/>
            <a:ext cx="3255264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89520" y="4700016"/>
            <a:ext cx="64008" cy="1133856"/>
          </a:xfrm>
          <a:prstGeom prst="rect">
            <a:avLst/>
          </a:prstGeom>
          <a:solidFill>
            <a:srgbClr val="15805D"/>
          </a:solidFill>
          <a:ln w="10160">
            <a:solidFill>
              <a:srgbClr val="158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90688" y="4928616"/>
            <a:ext cx="28346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10" b="1">
                <a:solidFill>
                  <a:srgbClr val="172331"/>
                </a:solidFill>
                <a:latin typeface="Microsoft YaHei"/>
              </a:rPr>
              <a:t>C｜GT-full + 薄壳规划器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27264" y="5330952"/>
            <a:ext cx="2761488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40" b="0">
                <a:solidFill>
                  <a:srgbClr val="667381"/>
                </a:solidFill>
                <a:latin typeface="Microsoft YaHei"/>
              </a:rPr>
              <a:t>表示与规划共同正确
估计系统上界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7" y="6565392"/>
            <a:ext cx="108813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20" b="0">
                <a:solidFill>
                  <a:srgbClr val="667381"/>
                </a:solidFill>
                <a:latin typeface="Microsoft YaHei"/>
              </a:rPr>
              <a:t>对象、候选抓取、规划器参数和数据划分全部冻结；GT 只用于离线审计，不参与候选生成。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