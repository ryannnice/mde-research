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30175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0F766E"/>
                </a:solidFill>
                <a:latin typeface="Microsoft YaHei"/>
              </a:rPr>
              <a:t>透明物体抓取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34440"/>
            <a:ext cx="987552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72331"/>
                </a:solidFill>
                <a:latin typeface="Microsoft YaHei"/>
              </a:rPr>
              <a:t>从单一深度到多界面几何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938528"/>
            <a:ext cx="73152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0">
                <a:solidFill>
                  <a:srgbClr val="667381"/>
                </a:solidFill>
                <a:latin typeface="Microsoft YaHei"/>
              </a:rPr>
              <a:t>相关工作 · Idea · 复现进度 · 下一步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76656" y="2578608"/>
            <a:ext cx="10808208" cy="0"/>
          </a:xfrm>
          <a:prstGeom prst="line">
            <a:avLst/>
          </a:prstGeom>
          <a:ln w="12700">
            <a:solidFill>
              <a:srgbClr val="DD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49808" y="3273552"/>
            <a:ext cx="12344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667381"/>
                </a:solidFill>
                <a:latin typeface="Microsoft YaHei"/>
              </a:rPr>
              <a:t>普通深度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93392" y="3364992"/>
            <a:ext cx="2715768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2834640" y="3255264"/>
            <a:ext cx="219456" cy="219456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0280" y="3721608"/>
            <a:ext cx="224028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Microsoft YaHei"/>
              </a:rPr>
              <a:t>一个像素 = 一个 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3273552"/>
            <a:ext cx="13258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667381"/>
                </a:solidFill>
                <a:latin typeface="Microsoft YaHei"/>
              </a:rPr>
              <a:t>我们的目标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03720" y="3364992"/>
            <a:ext cx="3913632" cy="0"/>
          </a:xfrm>
          <a:prstGeom prst="line">
            <a:avLst/>
          </a:prstGeom>
          <a:ln w="2540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315200" y="3246120"/>
            <a:ext cx="237744" cy="237744"/>
          </a:xfrm>
          <a:prstGeom prst="ellipse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78040" y="3675887"/>
            <a:ext cx="512064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50" b="0">
                <a:solidFill>
                  <a:srgbClr val="667381"/>
                </a:solidFill>
                <a:latin typeface="Microsoft YaHei"/>
              </a:rPr>
              <a:t>外壁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0" y="3246120"/>
            <a:ext cx="237744" cy="237744"/>
          </a:xfrm>
          <a:prstGeom prst="ellipse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3675887"/>
            <a:ext cx="512064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50" b="0">
                <a:solidFill>
                  <a:srgbClr val="667381"/>
                </a:solidFill>
                <a:latin typeface="Microsoft YaHei"/>
              </a:rPr>
              <a:t>内壁</a:t>
            </a:r>
          </a:p>
        </p:txBody>
      </p:sp>
      <p:sp>
        <p:nvSpPr>
          <p:cNvPr id="16" name="Oval 15"/>
          <p:cNvSpPr/>
          <p:nvPr/>
        </p:nvSpPr>
        <p:spPr>
          <a:xfrm>
            <a:off x="9235440" y="3246120"/>
            <a:ext cx="237744" cy="237744"/>
          </a:xfrm>
          <a:prstGeom prst="ellipse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3675887"/>
            <a:ext cx="512064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50" b="0">
                <a:solidFill>
                  <a:srgbClr val="667381"/>
                </a:solidFill>
                <a:latin typeface="Microsoft YaHei"/>
              </a:rPr>
              <a:t>内壁</a:t>
            </a:r>
          </a:p>
        </p:txBody>
      </p:sp>
      <p:sp>
        <p:nvSpPr>
          <p:cNvPr id="18" name="Oval 17"/>
          <p:cNvSpPr/>
          <p:nvPr/>
        </p:nvSpPr>
        <p:spPr>
          <a:xfrm>
            <a:off x="9966960" y="3246120"/>
            <a:ext cx="237744" cy="237744"/>
          </a:xfrm>
          <a:prstGeom prst="ellipse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29800" y="3675887"/>
            <a:ext cx="512064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50" b="0">
                <a:solidFill>
                  <a:srgbClr val="667381"/>
                </a:solidFill>
                <a:latin typeface="Microsoft YaHei"/>
              </a:rPr>
              <a:t>外壁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4032504"/>
            <a:ext cx="312724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0F766E"/>
                </a:solidFill>
                <a:latin typeface="Microsoft YaHei"/>
              </a:rPr>
              <a:t>一个像素 = 有序界面事件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5093208"/>
            <a:ext cx="10241280" cy="566928"/>
          </a:xfrm>
          <a:prstGeom prst="roundRect">
            <a:avLst/>
          </a:prstGeom>
          <a:solidFill>
            <a:srgbClr val="EAF6F4"/>
          </a:solidFill>
          <a:ln w="10160">
            <a:solidFill>
              <a:srgbClr val="EA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33856" y="5266944"/>
            <a:ext cx="9893808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172331"/>
                </a:solidFill>
                <a:latin typeface="Microsoft YaHei"/>
              </a:rPr>
              <a:t>核心假设：保留外壁、内壁和空腔，能减少抓取规划中的穿壁与“实心化”错误。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6254496"/>
            <a:ext cx="2286000" cy="1554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30" b="0">
                <a:solidFill>
                  <a:srgbClr val="667381"/>
                </a:solidFill>
                <a:latin typeface="Microsoft YaHei"/>
              </a:rPr>
              <a:t>阶段汇报 · 2026.08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2064" y="338328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Microsoft YaHei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83464"/>
            <a:ext cx="104241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1">
                <a:solidFill>
                  <a:srgbClr val="172331"/>
                </a:solidFill>
                <a:latin typeface="Microsoft YaHei"/>
              </a:rPr>
              <a:t>硬件进度：从 D455 深度到 PIPER-X 基座已打通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12064" y="850392"/>
            <a:ext cx="11137392" cy="0"/>
          </a:xfrm>
          <a:prstGeom prst="line">
            <a:avLst/>
          </a:prstGeom>
          <a:ln w="11430">
            <a:solidFill>
              <a:srgbClr val="DD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03504" y="1033271"/>
            <a:ext cx="877824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667381"/>
                </a:solidFill>
                <a:latin typeface="Microsoft YaHei"/>
              </a:rPr>
              <a:t>PIPER-X + AGILE.X 夹爪 + Intel RealSense D455 · 实机验证 2026.08.09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93808" y="987552"/>
            <a:ext cx="1645920" cy="292608"/>
          </a:xfrm>
          <a:prstGeom prst="roundRect">
            <a:avLst/>
          </a:prstGeom>
          <a:solidFill>
            <a:srgbClr val="EAF6F4"/>
          </a:solidFill>
          <a:ln w="10160">
            <a:solidFill>
              <a:srgbClr val="EA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93808" y="1056132"/>
            <a:ext cx="1645920" cy="118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80" b="1">
                <a:solidFill>
                  <a:srgbClr val="15805D"/>
                </a:solidFill>
                <a:latin typeface="Microsoft YaHei"/>
              </a:rPr>
              <a:t>同步快照已通过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2212848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81328"/>
            <a:ext cx="64008" cy="1298448"/>
          </a:xfrm>
          <a:prstGeom prst="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37360"/>
            <a:ext cx="18105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172331"/>
                </a:solidFill>
                <a:latin typeface="Microsoft YaHei"/>
              </a:rPr>
              <a:t>末端 D455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139696"/>
            <a:ext cx="1847088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69" b="0">
                <a:solidFill>
                  <a:srgbClr val="667381"/>
                </a:solidFill>
                <a:latin typeface="Microsoft YaHei"/>
              </a:rPr>
              <a:t>RGB-D 848×480 @ 30 Hz
USB 3.2 · eye-in-hand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481328"/>
            <a:ext cx="2212848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1481328"/>
            <a:ext cx="64008" cy="1298448"/>
          </a:xfrm>
          <a:prstGeom prst="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0168" y="1737360"/>
            <a:ext cx="18105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172331"/>
                </a:solidFill>
                <a:latin typeface="Microsoft YaHei"/>
              </a:rPr>
              <a:t>彩色对齐深度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139696"/>
            <a:ext cx="1847088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69" b="0">
                <a:solidFill>
                  <a:srgbClr val="667381"/>
                </a:solidFill>
                <a:latin typeface="Microsoft YaHei"/>
              </a:rPr>
              <a:t>camera_p
24 / 24 角点有效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1481328"/>
            <a:ext cx="2212848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2" y="1481328"/>
            <a:ext cx="64008" cy="1298448"/>
          </a:xfrm>
          <a:prstGeom prst="rect">
            <a:avLst/>
          </a:prstGeom>
          <a:solidFill>
            <a:srgbClr val="0F766E"/>
          </a:solidFill>
          <a:ln w="1016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737360"/>
            <a:ext cx="18105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172331"/>
                </a:solidFill>
                <a:latin typeface="Microsoft YaHei"/>
              </a:rPr>
              <a:t>手眼外参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2139696"/>
            <a:ext cx="1847088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69" b="0">
                <a:solidFill>
                  <a:srgbClr val="667381"/>
                </a:solidFill>
                <a:latin typeface="Microsoft YaHei"/>
              </a:rPr>
              <a:t>flange_T_camera
Park · 15 + 3 姿态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4" y="1481328"/>
            <a:ext cx="2212848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70264" y="1481328"/>
            <a:ext cx="64008" cy="1298448"/>
          </a:xfrm>
          <a:prstGeom prst="rect">
            <a:avLst/>
          </a:prstGeom>
          <a:solidFill>
            <a:srgbClr val="15805D"/>
          </a:solidFill>
          <a:ln w="10160">
            <a:solidFill>
              <a:srgbClr val="1580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1432" y="1737360"/>
            <a:ext cx="18105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172331"/>
                </a:solidFill>
                <a:latin typeface="Microsoft YaHei"/>
              </a:rPr>
              <a:t>PIPER-X 基座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53144" y="2139696"/>
            <a:ext cx="1847088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69" b="0">
                <a:solidFill>
                  <a:srgbClr val="667381"/>
                </a:solidFill>
                <a:latin typeface="Microsoft YaHei"/>
              </a:rPr>
              <a:t>base_T_flange
法兰反馈 + FK</a:t>
            </a:r>
          </a:p>
        </p:txBody>
      </p:sp>
      <p:sp>
        <p:nvSpPr>
          <p:cNvPr id="24" name="Chevron 23"/>
          <p:cNvSpPr/>
          <p:nvPr/>
        </p:nvSpPr>
        <p:spPr>
          <a:xfrm>
            <a:off x="2971800" y="1865376"/>
            <a:ext cx="292608" cy="438912"/>
          </a:xfrm>
          <a:prstGeom prst="chevron">
            <a:avLst/>
          </a:prstGeom>
          <a:solidFill>
            <a:srgbClr val="DDE3E8"/>
          </a:solidFill>
          <a:ln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evron 24"/>
          <p:cNvSpPr/>
          <p:nvPr/>
        </p:nvSpPr>
        <p:spPr>
          <a:xfrm>
            <a:off x="5742432" y="1865376"/>
            <a:ext cx="292608" cy="438912"/>
          </a:xfrm>
          <a:prstGeom prst="chevron">
            <a:avLst/>
          </a:prstGeom>
          <a:solidFill>
            <a:srgbClr val="DDE3E8"/>
          </a:solidFill>
          <a:ln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evron 25"/>
          <p:cNvSpPr/>
          <p:nvPr/>
        </p:nvSpPr>
        <p:spPr>
          <a:xfrm>
            <a:off x="8513064" y="1865376"/>
            <a:ext cx="292608" cy="438912"/>
          </a:xfrm>
          <a:prstGeom prst="chevron">
            <a:avLst/>
          </a:prstGeom>
          <a:solidFill>
            <a:srgbClr val="DDE3E8"/>
          </a:solidFill>
          <a:ln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335024" y="3054096"/>
            <a:ext cx="9509760" cy="530352"/>
          </a:xfrm>
          <a:prstGeom prst="roundRect">
            <a:avLst/>
          </a:prstGeom>
          <a:solidFill>
            <a:srgbClr val="EAF6F4"/>
          </a:solidFill>
          <a:ln w="10160">
            <a:solidFill>
              <a:srgbClr val="EA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45336" y="3209544"/>
            <a:ext cx="9089136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0F766E"/>
                </a:solidFill>
                <a:latin typeface="Microsoft YaHei"/>
              </a:rPr>
              <a:t>base_p = base_T_flange @ flange_T_camera @ camera_p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3913632"/>
            <a:ext cx="2313432" cy="11338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59" y="4096512"/>
            <a:ext cx="1984248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19" b="1">
                <a:solidFill>
                  <a:srgbClr val="667381"/>
                </a:solidFill>
                <a:latin typeface="Microsoft YaHei"/>
              </a:rPr>
              <a:t>统一时间戳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" y="4407408"/>
            <a:ext cx="205740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20" b="1">
                <a:solidFill>
                  <a:srgbClr val="15805D"/>
                </a:solidFill>
                <a:latin typeface="Microsoft YaHei"/>
              </a:rPr>
              <a:t>5.420 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" y="4736592"/>
            <a:ext cx="2057400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30" b="0">
                <a:solidFill>
                  <a:srgbClr val="667381"/>
                </a:solidFill>
                <a:latin typeface="Microsoft YaHei"/>
              </a:rPr>
              <a:t>相机曝光 ↔ 法兰反馈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11296" y="3913632"/>
            <a:ext cx="2313432" cy="11338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5887" y="4096512"/>
            <a:ext cx="1984248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19" b="1">
                <a:solidFill>
                  <a:srgbClr val="667381"/>
                </a:solidFill>
                <a:latin typeface="Microsoft YaHei"/>
              </a:rPr>
              <a:t>手眼独立留出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9312" y="4407408"/>
            <a:ext cx="205740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20" b="1">
                <a:solidFill>
                  <a:srgbClr val="0F766E"/>
                </a:solidFill>
                <a:latin typeface="Microsoft YaHei"/>
              </a:rPr>
              <a:t>3.660 mm / 0.663°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39312" y="4736592"/>
            <a:ext cx="2057400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30" b="0">
                <a:solidFill>
                  <a:srgbClr val="667381"/>
                </a:solidFill>
                <a:latin typeface="Microsoft YaHei"/>
              </a:rPr>
              <a:t>3 个未参与求解姿态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64224" y="3913632"/>
            <a:ext cx="2313432" cy="11338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28816" y="4096512"/>
            <a:ext cx="1984248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19" b="1">
                <a:solidFill>
                  <a:srgbClr val="667381"/>
                </a:solidFill>
                <a:latin typeface="Microsoft YaHei"/>
              </a:rPr>
              <a:t>深度板面拟合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4407408"/>
            <a:ext cx="205740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20" b="1">
                <a:solidFill>
                  <a:srgbClr val="2563EB"/>
                </a:solidFill>
                <a:latin typeface="Microsoft YaHei"/>
              </a:rPr>
              <a:t>0.692 mm 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0" y="4736592"/>
            <a:ext cx="2057400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30" b="0">
                <a:solidFill>
                  <a:srgbClr val="667381"/>
                </a:solidFill>
                <a:latin typeface="Microsoft YaHei"/>
              </a:rPr>
              <a:t>30 mm 边长误差 0.307 mm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217152" y="3913632"/>
            <a:ext cx="2313432" cy="11338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81744" y="4096512"/>
            <a:ext cx="1984248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19" b="1">
                <a:solidFill>
                  <a:srgbClr val="667381"/>
                </a:solidFill>
                <a:latin typeface="Microsoft YaHei"/>
              </a:rPr>
              <a:t>基座位姿一致性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45168" y="4407408"/>
            <a:ext cx="205740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20" b="1">
                <a:solidFill>
                  <a:srgbClr val="C46B16"/>
                </a:solidFill>
                <a:latin typeface="Microsoft YaHei"/>
              </a:rPr>
              <a:t>3.469 mm / 0.513°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5168" y="4736592"/>
            <a:ext cx="2057400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30" b="0">
                <a:solidFill>
                  <a:srgbClr val="667381"/>
                </a:solidFill>
                <a:latin typeface="Microsoft YaHei"/>
              </a:rPr>
              <a:t>深度点 → 机器人 Base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68680" y="5404104"/>
            <a:ext cx="10451592" cy="649224"/>
          </a:xfrm>
          <a:prstGeom prst="roundRect">
            <a:avLst/>
          </a:prstGeom>
          <a:solidFill>
            <a:srgbClr val="EEF4FF"/>
          </a:solidFill>
          <a:ln w="10160"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06424" y="5614416"/>
            <a:ext cx="9601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1">
                <a:solidFill>
                  <a:srgbClr val="2563EB"/>
                </a:solidFill>
                <a:latin typeface="Microsoft YaHei"/>
              </a:rPr>
              <a:t>下一步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11680" y="5577840"/>
            <a:ext cx="894283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80" b="1">
                <a:solidFill>
                  <a:srgbClr val="172331"/>
                </a:solidFill>
                <a:latin typeface="Microsoft YaHei"/>
              </a:rPr>
              <a:t>连续多帧记录 + 法兰位姿插值，接透明物体 mask、目标位姿与抓取。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7" y="6565392"/>
            <a:ext cx="10881360" cy="1371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720" b="0">
                <a:solidFill>
                  <a:srgbClr val="667381"/>
                </a:solidFill>
                <a:latin typeface="Microsoft YaHei"/>
              </a:rPr>
              <a:t>统一静态快照已输出 308,677 点 Base PLY；相机支架不可松动。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2064" y="338328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Microsoft YaHe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83464"/>
            <a:ext cx="104241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1">
                <a:solidFill>
                  <a:srgbClr val="172331"/>
                </a:solidFill>
                <a:latin typeface="Microsoft YaHei"/>
              </a:rPr>
              <a:t>相关论文①：单层深度路线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12064" y="850392"/>
            <a:ext cx="11137392" cy="0"/>
          </a:xfrm>
          <a:prstGeom prst="line">
            <a:avLst/>
          </a:prstGeom>
          <a:ln w="11430">
            <a:solidFill>
              <a:srgbClr val="DD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143000"/>
            <a:ext cx="21945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72331"/>
                </a:solidFill>
                <a:latin typeface="Microsoft YaHei"/>
              </a:rPr>
              <a:t>TransCG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43784" y="1106424"/>
            <a:ext cx="685800" cy="292608"/>
          </a:xfrm>
          <a:prstGeom prst="roundRect">
            <a:avLst/>
          </a:prstGeom>
          <a:solidFill>
            <a:srgbClr val="EEF4FF"/>
          </a:solidFill>
          <a:ln w="10160"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43784" y="1175004"/>
            <a:ext cx="685800" cy="118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80" b="1">
                <a:solidFill>
                  <a:srgbClr val="2563EB"/>
                </a:solidFill>
                <a:latin typeface="Microsoft YaHei"/>
              </a:rPr>
              <a:t>RAL 2022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3072384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80" b="0">
                <a:solidFill>
                  <a:srgbClr val="667381"/>
                </a:solidFill>
                <a:latin typeface="Microsoft YaHei"/>
              </a:rPr>
              <a:t>RGB-D 深度补全 + 抓取数据</a:t>
            </a:r>
          </a:p>
        </p:txBody>
      </p:sp>
      <p:pic>
        <p:nvPicPr>
          <p:cNvPr id="9" name="Picture 8" descr="transcg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93751"/>
            <a:ext cx="3072384" cy="198586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1975104"/>
            <a:ext cx="3072384" cy="2423160"/>
          </a:xfrm>
          <a:prstGeom prst="rect">
            <a:avLst/>
          </a:prstGeom>
          <a:noFill/>
          <a:ln w="889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96512" y="1143000"/>
            <a:ext cx="21945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72331"/>
                </a:solidFill>
                <a:latin typeface="Microsoft YaHei"/>
              </a:rPr>
              <a:t>Depth4ToM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1656" y="1106424"/>
            <a:ext cx="685800" cy="292608"/>
          </a:xfrm>
          <a:prstGeom prst="roundRect">
            <a:avLst/>
          </a:prstGeom>
          <a:solidFill>
            <a:srgbClr val="EEF4FF"/>
          </a:solidFill>
          <a:ln w="10160"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1656" y="1175004"/>
            <a:ext cx="685800" cy="118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80" b="1">
                <a:solidFill>
                  <a:srgbClr val="2563EB"/>
                </a:solidFill>
                <a:latin typeface="Microsoft YaHei"/>
              </a:rPr>
              <a:t>ICCV 2023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1490472"/>
            <a:ext cx="3072384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80" b="0">
                <a:solidFill>
                  <a:srgbClr val="667381"/>
                </a:solidFill>
                <a:latin typeface="Microsoft YaHei"/>
              </a:rPr>
              <a:t>透明 / 镜面单目深度估计</a:t>
            </a:r>
          </a:p>
        </p:txBody>
      </p:sp>
      <p:pic>
        <p:nvPicPr>
          <p:cNvPr id="15" name="Picture 14" descr="depth4tom_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3899" y="1975104"/>
            <a:ext cx="2537608" cy="242315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096512" y="1975104"/>
            <a:ext cx="3072384" cy="2423160"/>
          </a:xfrm>
          <a:prstGeom prst="rect">
            <a:avLst/>
          </a:prstGeom>
          <a:noFill/>
          <a:ln w="889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44383" y="1143000"/>
            <a:ext cx="21945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72331"/>
                </a:solidFill>
                <a:latin typeface="Microsoft YaHei"/>
              </a:rPr>
              <a:t>ReMake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39528" y="1106424"/>
            <a:ext cx="685800" cy="292608"/>
          </a:xfrm>
          <a:prstGeom prst="roundRect">
            <a:avLst/>
          </a:prstGeom>
          <a:solidFill>
            <a:srgbClr val="EEF4FF"/>
          </a:solidFill>
          <a:ln w="10160"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39528" y="1175004"/>
            <a:ext cx="685800" cy="118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80" b="1">
                <a:solidFill>
                  <a:srgbClr val="2563EB"/>
                </a:solidFill>
                <a:latin typeface="Microsoft YaHei"/>
              </a:rPr>
              <a:t>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44383" y="1490472"/>
            <a:ext cx="3072384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80" b="0">
                <a:solidFill>
                  <a:srgbClr val="667381"/>
                </a:solidFill>
                <a:latin typeface="Microsoft YaHei"/>
              </a:rPr>
              <a:t>mask 辅助的 metric depth + 抓取</a:t>
            </a:r>
          </a:p>
        </p:txBody>
      </p:sp>
      <p:pic>
        <p:nvPicPr>
          <p:cNvPr id="21" name="Picture 20" descr="remake_co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4383" y="2346126"/>
            <a:ext cx="3072384" cy="1681115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7644383" y="1975104"/>
            <a:ext cx="3072384" cy="2423160"/>
          </a:xfrm>
          <a:prstGeom prst="rect">
            <a:avLst/>
          </a:prstGeom>
          <a:noFill/>
          <a:ln w="889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9808" y="4946904"/>
            <a:ext cx="10698480" cy="694944"/>
          </a:xfrm>
          <a:prstGeom prst="roundRect">
            <a:avLst/>
          </a:prstGeom>
          <a:solidFill>
            <a:srgbClr val="F5F8FA"/>
          </a:solidFill>
          <a:ln w="10160">
            <a:solidFill>
              <a:srgbClr val="F5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157216"/>
            <a:ext cx="102412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F766E"/>
                </a:solidFill>
                <a:latin typeface="Microsoft YaHei"/>
              </a:rPr>
              <a:t>共同点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93392" y="5129784"/>
            <a:ext cx="9025128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72331"/>
                </a:solidFill>
                <a:latin typeface="Microsoft YaHei"/>
              </a:rPr>
              <a:t>都把输出压缩成一张深度图；对透明物体有用，但无法直接表达内壁与空腔。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879592"/>
            <a:ext cx="9601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0F766E"/>
                </a:solidFill>
                <a:latin typeface="Microsoft YaHei"/>
              </a:rPr>
              <a:t>这也是 DepthHypothesisPack 要突破的表示瓶颈。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7" y="6565392"/>
            <a:ext cx="10881360" cy="1371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720" b="0">
                <a:solidFill>
                  <a:srgbClr val="667381"/>
                </a:solidFill>
                <a:latin typeface="Microsoft YaHei"/>
              </a:rPr>
              <a:t>图片截自本地论文 PDF：TransCG、Depth4ToM、ReMake。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2064" y="338328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Microsoft YaHei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83464"/>
            <a:ext cx="104241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1">
                <a:solidFill>
                  <a:srgbClr val="172331"/>
                </a:solidFill>
                <a:latin typeface="Microsoft YaHei"/>
              </a:rPr>
              <a:t>相关论文②：多层深度路线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12064" y="850392"/>
            <a:ext cx="11137392" cy="0"/>
          </a:xfrm>
          <a:prstGeom prst="line">
            <a:avLst/>
          </a:prstGeom>
          <a:ln w="11430">
            <a:solidFill>
              <a:srgbClr val="DD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03504" y="1115568"/>
            <a:ext cx="21945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72331"/>
                </a:solidFill>
                <a:latin typeface="Microsoft YaHei"/>
              </a:rPr>
              <a:t>LayeredDepth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463040"/>
            <a:ext cx="525780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381"/>
                </a:solidFill>
                <a:latin typeface="Microsoft YaHei"/>
              </a:rPr>
              <a:t>提出真实 / 合成 multi-layer benchmark，并定义 layer_first 与 layer_all 评测。</a:t>
            </a:r>
          </a:p>
        </p:txBody>
      </p:sp>
      <p:pic>
        <p:nvPicPr>
          <p:cNvPr id="7" name="Picture 6" descr="layereddepth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159058"/>
            <a:ext cx="5230368" cy="253988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3504" y="1938528"/>
            <a:ext cx="5230368" cy="2980944"/>
          </a:xfrm>
          <a:prstGeom prst="rect">
            <a:avLst/>
          </a:prstGeom>
          <a:noFill/>
          <a:ln w="889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8504" y="1115568"/>
            <a:ext cx="21945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72331"/>
                </a:solidFill>
                <a:latin typeface="Microsoft YaHei"/>
              </a:rPr>
              <a:t>SeeGroup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8504" y="1463040"/>
            <a:ext cx="525780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381"/>
                </a:solidFill>
                <a:latin typeface="Microsoft YaHei"/>
              </a:rPr>
              <a:t>沿同一条 ray 预测多个深度，并让模型自适应地组织这些层。</a:t>
            </a:r>
          </a:p>
        </p:txBody>
      </p:sp>
      <p:pic>
        <p:nvPicPr>
          <p:cNvPr id="11" name="Picture 10" descr="seegroup_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2641392"/>
            <a:ext cx="5230368" cy="157521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318504" y="1938528"/>
            <a:ext cx="5230368" cy="2980944"/>
          </a:xfrm>
          <a:prstGeom prst="rect">
            <a:avLst/>
          </a:prstGeom>
          <a:noFill/>
          <a:ln w="889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78992" y="5340096"/>
            <a:ext cx="10040112" cy="612648"/>
          </a:xfrm>
          <a:prstGeom prst="roundRect">
            <a:avLst/>
          </a:prstGeom>
          <a:solidFill>
            <a:srgbClr val="EAF6F4"/>
          </a:solidFill>
          <a:ln w="10160">
            <a:solidFill>
              <a:srgbClr val="EA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5522976"/>
            <a:ext cx="960120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172331"/>
                </a:solidFill>
                <a:latin typeface="Microsoft YaHei"/>
              </a:rPr>
              <a:t>它们证明“多界面可以被感知”；仍未回答“多界面能否让抓取规划更可靠”。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7" y="6565392"/>
            <a:ext cx="10881360" cy="1371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720" b="0">
                <a:solidFill>
                  <a:srgbClr val="667381"/>
                </a:solidFill>
                <a:latin typeface="Microsoft YaHei"/>
              </a:rPr>
              <a:t>图片截自本地论文 PDF：LayeredDepth、SeeGroup。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2064" y="338328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Microsoft YaHei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83464"/>
            <a:ext cx="104241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1">
                <a:solidFill>
                  <a:srgbClr val="172331"/>
                </a:solidFill>
                <a:latin typeface="Microsoft YaHei"/>
              </a:rPr>
              <a:t>Idea：DepthHypothesisPack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12064" y="850392"/>
            <a:ext cx="11137392" cy="0"/>
          </a:xfrm>
          <a:prstGeom prst="line">
            <a:avLst/>
          </a:prstGeom>
          <a:ln w="11430">
            <a:solidFill>
              <a:srgbClr val="DD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57784" y="1078992"/>
            <a:ext cx="80467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7381"/>
                </a:solidFill>
                <a:latin typeface="Microsoft YaHei"/>
              </a:rPr>
              <a:t>把感知模型输出变成规划器能直接使用的薄壳事件。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" y="1911095"/>
            <a:ext cx="2139696" cy="19202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6656" y="1911095"/>
            <a:ext cx="64008" cy="1920240"/>
          </a:xfrm>
          <a:prstGeom prst="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203703"/>
            <a:ext cx="1700784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172331"/>
                </a:solidFill>
                <a:latin typeface="Microsoft YaHei"/>
              </a:rPr>
              <a:t>输入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825496"/>
            <a:ext cx="1700784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667381"/>
                </a:solidFill>
                <a:latin typeface="Microsoft YaHei"/>
              </a:rPr>
              <a:t>RGB-D + mask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85032" y="1911095"/>
            <a:ext cx="3694176" cy="19202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85032" y="1911095"/>
            <a:ext cx="64008" cy="1920240"/>
          </a:xfrm>
          <a:prstGeom prst="rect">
            <a:avLst/>
          </a:prstGeom>
          <a:solidFill>
            <a:srgbClr val="0F766E"/>
          </a:solidFill>
          <a:ln w="1016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13632" y="2203703"/>
            <a:ext cx="3255264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172331"/>
                </a:solidFill>
                <a:latin typeface="Microsoft YaHei"/>
              </a:rPr>
              <a:t>DepthHypothesisPack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632" y="2825496"/>
            <a:ext cx="3255264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667381"/>
                </a:solidFill>
                <a:latin typeface="Microsoft YaHei"/>
              </a:rPr>
              <a:t>[d¹, d², d³, d⁴] + 类型 / 置信度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57031" y="1911095"/>
            <a:ext cx="3255264" cy="19202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57031" y="1911095"/>
            <a:ext cx="64008" cy="1920240"/>
          </a:xfrm>
          <a:prstGeom prst="rect">
            <a:avLst/>
          </a:prstGeom>
          <a:solidFill>
            <a:srgbClr val="15805D"/>
          </a:solidFill>
          <a:ln w="10160">
            <a:solidFill>
              <a:srgbClr val="1580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85632" y="2203703"/>
            <a:ext cx="2816352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172331"/>
                </a:solidFill>
                <a:latin typeface="Microsoft YaHei"/>
              </a:rPr>
              <a:t>Shell-aware planner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85632" y="2825496"/>
            <a:ext cx="281635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667381"/>
                </a:solidFill>
                <a:latin typeface="Microsoft YaHei"/>
              </a:rPr>
              <a:t>碰撞、空腔、可达性检查</a:t>
            </a:r>
          </a:p>
        </p:txBody>
      </p:sp>
      <p:sp>
        <p:nvSpPr>
          <p:cNvPr id="18" name="Chevron 17"/>
          <p:cNvSpPr/>
          <p:nvPr/>
        </p:nvSpPr>
        <p:spPr>
          <a:xfrm>
            <a:off x="3054096" y="2578608"/>
            <a:ext cx="365760" cy="493776"/>
          </a:xfrm>
          <a:prstGeom prst="chevron">
            <a:avLst/>
          </a:prstGeom>
          <a:solidFill>
            <a:srgbClr val="DDE3E8"/>
          </a:solidFill>
          <a:ln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evron 18"/>
          <p:cNvSpPr/>
          <p:nvPr/>
        </p:nvSpPr>
        <p:spPr>
          <a:xfrm>
            <a:off x="7626096" y="2578608"/>
            <a:ext cx="365760" cy="493776"/>
          </a:xfrm>
          <a:prstGeom prst="chevron">
            <a:avLst/>
          </a:prstGeom>
          <a:solidFill>
            <a:srgbClr val="DDE3E8"/>
          </a:solidFill>
          <a:ln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017520"/>
            <a:ext cx="475488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Microsoft YaHei"/>
              </a:rPr>
              <a:t>d¹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27448" y="3017520"/>
            <a:ext cx="475488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0F766E"/>
                </a:solidFill>
                <a:latin typeface="Microsoft YaHei"/>
              </a:rPr>
              <a:t>d²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0096" y="3017520"/>
            <a:ext cx="475488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C46B16"/>
                </a:solidFill>
                <a:latin typeface="Microsoft YaHei"/>
              </a:rPr>
              <a:t>d³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52744" y="3017520"/>
            <a:ext cx="475488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15805D"/>
                </a:solidFill>
                <a:latin typeface="Microsoft YaHei"/>
              </a:rPr>
              <a:t>d⁴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" y="4590288"/>
            <a:ext cx="10588752" cy="1115568"/>
          </a:xfrm>
          <a:prstGeom prst="roundRect">
            <a:avLst/>
          </a:prstGeom>
          <a:solidFill>
            <a:srgbClr val="F5F8FA"/>
          </a:solidFill>
          <a:ln w="10160">
            <a:solidFill>
              <a:srgbClr val="F5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4837176"/>
            <a:ext cx="3749039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72331"/>
                </a:solidFill>
                <a:latin typeface="Microsoft YaHei"/>
              </a:rPr>
              <a:t>关键不是“多输出几张 depth map”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4296" y="4828032"/>
            <a:ext cx="6373368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0F766E"/>
                </a:solidFill>
                <a:latin typeface="Microsoft YaHei"/>
              </a:rPr>
              <a:t>而是保留事件顺序与几何语义，让 planner 知道哪里是壁、哪里是空腔。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5330952"/>
            <a:ext cx="96926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80" b="0">
                <a:solidFill>
                  <a:srgbClr val="667381"/>
                </a:solidFill>
                <a:latin typeface="Microsoft YaHei"/>
              </a:rPr>
              <a:t>当前状态：Idea 已确定；Head 尚未训练，先通过下游可行性 Gate。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7" y="6565392"/>
            <a:ext cx="10881360" cy="1371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720" b="0">
                <a:solidFill>
                  <a:srgbClr val="667381"/>
                </a:solidFill>
                <a:latin typeface="Microsoft YaHei"/>
              </a:rPr>
              <a:t>本页为本项目方法设计。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2064" y="338328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Microsoft YaHei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83464"/>
            <a:ext cx="104241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1">
                <a:solidFill>
                  <a:srgbClr val="172331"/>
                </a:solidFill>
                <a:latin typeface="Microsoft YaHei"/>
              </a:rPr>
              <a:t>目前复现进度：哪些是论文协议，哪些是我们的诊断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12064" y="850392"/>
            <a:ext cx="11137392" cy="0"/>
          </a:xfrm>
          <a:prstGeom prst="line">
            <a:avLst/>
          </a:prstGeom>
          <a:ln w="11430">
            <a:solidFill>
              <a:srgbClr val="DD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03504" y="1152144"/>
            <a:ext cx="283464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72331"/>
                </a:solidFill>
                <a:latin typeface="Microsoft YaHei"/>
              </a:rPr>
              <a:t>官方协议 / benchmark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62656" y="1106424"/>
            <a:ext cx="1060704" cy="292608"/>
          </a:xfrm>
          <a:prstGeom prst="roundRect">
            <a:avLst/>
          </a:prstGeom>
          <a:solidFill>
            <a:srgbClr val="EAF6F4"/>
          </a:solidFill>
          <a:ln w="10160">
            <a:solidFill>
              <a:srgbClr val="EA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62656" y="1175004"/>
            <a:ext cx="1060704" cy="118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80" b="1">
                <a:solidFill>
                  <a:srgbClr val="15805D"/>
                </a:solidFill>
                <a:latin typeface="Microsoft YaHei"/>
              </a:rPr>
              <a:t>可直接引用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1636776"/>
            <a:ext cx="5385816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801368"/>
            <a:ext cx="221284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72331"/>
                </a:solidFill>
                <a:latin typeface="Microsoft YaHei"/>
              </a:rPr>
              <a:t>Depth4ToM Base 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148840"/>
            <a:ext cx="2212848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67381"/>
                </a:solidFill>
                <a:latin typeface="Microsoft YaHei"/>
              </a:rPr>
              <a:t>Booster 228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54096" y="1801368"/>
            <a:ext cx="249631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160" b="1">
                <a:solidFill>
                  <a:srgbClr val="0F766E"/>
                </a:solidFill>
                <a:latin typeface="Microsoft YaHei"/>
              </a:rPr>
              <a:t>DPT ToM RMSE 136.28 mm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54096" y="2167128"/>
            <a:ext cx="2496312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19" b="1">
                <a:solidFill>
                  <a:srgbClr val="15805D"/>
                </a:solidFill>
                <a:latin typeface="Microsoft YaHei"/>
              </a:rPr>
              <a:t>与论文一致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" y="2889504"/>
            <a:ext cx="5385816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054096"/>
            <a:ext cx="221284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72331"/>
                </a:solidFill>
                <a:latin typeface="Microsoft YaHei"/>
              </a:rPr>
              <a:t>DPT Base vs SeeGroup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401568"/>
            <a:ext cx="2212848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67381"/>
                </a:solidFill>
                <a:latin typeface="Microsoft YaHei"/>
              </a:rPr>
              <a:t>LayeredDepth val 300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54096" y="3054096"/>
            <a:ext cx="249631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160" b="1">
                <a:solidFill>
                  <a:srgbClr val="0F766E"/>
                </a:solidFill>
                <a:latin typeface="Microsoft YaHei"/>
              </a:rPr>
              <a:t>layer_all 29.95% → 72.41%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4096" y="3419856"/>
            <a:ext cx="2496312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19" b="1">
                <a:solidFill>
                  <a:srgbClr val="15805D"/>
                </a:solidFill>
                <a:latin typeface="Microsoft YaHei"/>
              </a:rPr>
              <a:t>+42.46 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4" y="1152144"/>
            <a:ext cx="283464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72331"/>
                </a:solidFill>
                <a:latin typeface="Microsoft YaHei"/>
              </a:rPr>
              <a:t>我们的诊断 / oracle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38944" y="1106424"/>
            <a:ext cx="1554480" cy="292608"/>
          </a:xfrm>
          <a:prstGeom prst="roundRect">
            <a:avLst/>
          </a:prstGeom>
          <a:solidFill>
            <a:srgbClr val="FFF4E8"/>
          </a:solidFill>
          <a:ln w="10160">
            <a:solidFill>
              <a:srgbClr val="FFF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38944" y="1175004"/>
            <a:ext cx="1554480" cy="118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80" b="1">
                <a:solidFill>
                  <a:srgbClr val="C46B16"/>
                </a:solidFill>
                <a:latin typeface="Microsoft YaHei"/>
              </a:rPr>
              <a:t>不能冒充论文分数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2784" y="1636776"/>
            <a:ext cx="5312664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0528" y="1801368"/>
            <a:ext cx="226771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72331"/>
                </a:solidFill>
                <a:latin typeface="Microsoft YaHei"/>
              </a:rPr>
              <a:t>T²SQNet + GT mask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0528" y="2148840"/>
            <a:ext cx="2267712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67381"/>
                </a:solidFill>
                <a:latin typeface="Microsoft YaHei"/>
              </a:rPr>
              <a:t>TablewareNet 100 scenes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41664" y="1801368"/>
            <a:ext cx="240487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130" b="1">
                <a:solidFill>
                  <a:srgbClr val="C46B16"/>
                </a:solidFill>
                <a:latin typeface="Microsoft YaHei"/>
              </a:rPr>
              <a:t>Shell interface F1 79.15%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41664" y="2167128"/>
            <a:ext cx="2404872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19" b="1">
                <a:solidFill>
                  <a:srgbClr val="C46B16"/>
                </a:solidFill>
                <a:latin typeface="Microsoft YaHei"/>
              </a:rPr>
              <a:t>受控几何 oracle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72784" y="2889504"/>
            <a:ext cx="5312664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3054096"/>
            <a:ext cx="226771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72331"/>
                </a:solidFill>
                <a:latin typeface="Microsoft YaHei"/>
              </a:rPr>
              <a:t>TransCG full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0528" y="3401568"/>
            <a:ext cx="2267712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67381"/>
                </a:solidFill>
                <a:latin typeface="Microsoft YaHei"/>
              </a:rPr>
              <a:t>52 scenes / 23,524 samples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41664" y="3054096"/>
            <a:ext cx="240487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130" b="1">
                <a:solidFill>
                  <a:srgbClr val="C46B16"/>
                </a:solidFill>
                <a:latin typeface="Microsoft YaHei"/>
              </a:rPr>
              <a:t>当前已取得 40 / 52 scenes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41664" y="3419856"/>
            <a:ext cx="2404872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19" b="1">
                <a:solidFill>
                  <a:srgbClr val="C46B16"/>
                </a:solidFill>
                <a:latin typeface="Microsoft YaHei"/>
              </a:rPr>
              <a:t>尚无 full metric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6384" y="4498848"/>
            <a:ext cx="10588752" cy="1060704"/>
          </a:xfrm>
          <a:prstGeom prst="roundRect">
            <a:avLst/>
          </a:prstGeom>
          <a:solidFill>
            <a:srgbClr val="EEF4FF"/>
          </a:solidFill>
          <a:ln w="10160"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727448"/>
            <a:ext cx="1152144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Microsoft YaHei"/>
              </a:rPr>
              <a:t>当前能说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4718304"/>
            <a:ext cx="882396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72331"/>
                </a:solidFill>
                <a:latin typeface="Microsoft YaHei"/>
              </a:rPr>
              <a:t>多层表示在感知协议上优势显著；受控条件下能够恢复大量薄壳界面。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138928"/>
            <a:ext cx="1152144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B7443E"/>
                </a:solidFill>
                <a:latin typeface="Microsoft YaHei"/>
              </a:rPr>
              <a:t>当前不能说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84831" y="5129784"/>
            <a:ext cx="882396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20" b="0">
                <a:solidFill>
                  <a:srgbClr val="667381"/>
                </a:solidFill>
                <a:latin typeface="Microsoft YaHei"/>
              </a:rPr>
              <a:t>已经提升 planner / robot success；Depth4ToM-FT 与 TransCG full test 仍未完成。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1207" y="6565392"/>
            <a:ext cx="10881360" cy="1371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720" b="0">
                <a:solidFill>
                  <a:srgbClr val="667381"/>
                </a:solidFill>
                <a:latin typeface="Microsoft YaHei"/>
              </a:rPr>
              <a:t>本地完整运行：Booster 228、LayeredDepth validation 300、TablewareNet test 100 scenes。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2064" y="338328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Microsoft YaHei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83464"/>
            <a:ext cx="104241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1">
                <a:solidFill>
                  <a:srgbClr val="172331"/>
                </a:solidFill>
                <a:latin typeface="Microsoft YaHei"/>
              </a:rPr>
              <a:t>下一步：先证明规划收益，再训练新 Head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12064" y="850392"/>
            <a:ext cx="11137392" cy="0"/>
          </a:xfrm>
          <a:prstGeom prst="line">
            <a:avLst/>
          </a:prstGeom>
          <a:ln w="11430">
            <a:solidFill>
              <a:srgbClr val="DD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563624" y="1463040"/>
            <a:ext cx="475488" cy="475488"/>
          </a:xfrm>
          <a:prstGeom prst="ellipse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63624" y="1600931"/>
            <a:ext cx="475488" cy="14264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39112" y="1700784"/>
            <a:ext cx="1380744" cy="0"/>
          </a:xfrm>
          <a:prstGeom prst="line">
            <a:avLst/>
          </a:prstGeom>
          <a:ln w="19050">
            <a:solidFill>
              <a:srgbClr val="DD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2221992"/>
            <a:ext cx="2304288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172331"/>
                </a:solidFill>
                <a:latin typeface="Microsoft YaHei"/>
              </a:rPr>
              <a:t>Planner oracle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788920"/>
            <a:ext cx="230428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19" b="0">
                <a:solidFill>
                  <a:srgbClr val="667381"/>
                </a:solidFill>
                <a:latin typeface="Microsoft YaHei"/>
              </a:rPr>
              <a:t>同一 planner 下比较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3419856"/>
            <a:ext cx="2121408" cy="749808"/>
          </a:xfrm>
          <a:prstGeom prst="roundRect">
            <a:avLst/>
          </a:prstGeom>
          <a:solidFill>
            <a:srgbClr val="F5F8FA"/>
          </a:solidFill>
          <a:ln w="10160">
            <a:solidFill>
              <a:srgbClr val="F5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3611880"/>
            <a:ext cx="193852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30" b="1">
                <a:solidFill>
                  <a:srgbClr val="0F766E"/>
                </a:solidFill>
                <a:latin typeface="Microsoft YaHei"/>
              </a:rPr>
              <a:t>GT-front
vs GT-events</a:t>
            </a:r>
          </a:p>
        </p:txBody>
      </p:sp>
      <p:sp>
        <p:nvSpPr>
          <p:cNvPr id="12" name="Oval 11"/>
          <p:cNvSpPr/>
          <p:nvPr/>
        </p:nvSpPr>
        <p:spPr>
          <a:xfrm>
            <a:off x="4398264" y="1463040"/>
            <a:ext cx="475488" cy="475488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98264" y="1600931"/>
            <a:ext cx="475488" cy="14264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73752" y="1700784"/>
            <a:ext cx="1380744" cy="0"/>
          </a:xfrm>
          <a:prstGeom prst="line">
            <a:avLst/>
          </a:prstGeom>
          <a:ln w="19050">
            <a:solidFill>
              <a:srgbClr val="DD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493008" y="2221992"/>
            <a:ext cx="2304288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172331"/>
                </a:solidFill>
                <a:latin typeface="Microsoft YaHei"/>
              </a:rPr>
              <a:t>补齐 native baselines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2788920"/>
            <a:ext cx="230428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19" b="0">
                <a:solidFill>
                  <a:srgbClr val="667381"/>
                </a:solidFill>
                <a:latin typeface="Microsoft YaHei"/>
              </a:rPr>
              <a:t>完成 TransCG 余下 12 scenes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84448" y="3419856"/>
            <a:ext cx="2121408" cy="749808"/>
          </a:xfrm>
          <a:prstGeom prst="roundRect">
            <a:avLst/>
          </a:prstGeom>
          <a:solidFill>
            <a:srgbClr val="F5F8FA"/>
          </a:solidFill>
          <a:ln w="10160">
            <a:solidFill>
              <a:srgbClr val="F5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5888" y="3611880"/>
            <a:ext cx="193852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30" b="1">
                <a:solidFill>
                  <a:srgbClr val="2563EB"/>
                </a:solidFill>
                <a:latin typeface="Microsoft YaHei"/>
              </a:rPr>
              <a:t>DFNet + ReMake
23,524 samples</a:t>
            </a:r>
          </a:p>
        </p:txBody>
      </p:sp>
      <p:sp>
        <p:nvSpPr>
          <p:cNvPr id="19" name="Oval 18"/>
          <p:cNvSpPr/>
          <p:nvPr/>
        </p:nvSpPr>
        <p:spPr>
          <a:xfrm>
            <a:off x="7232904" y="1463040"/>
            <a:ext cx="475488" cy="475488"/>
          </a:xfrm>
          <a:prstGeom prst="ellipse">
            <a:avLst/>
          </a:prstGeom>
          <a:solidFill>
            <a:srgbClr val="C46B16"/>
          </a:solidFill>
          <a:ln>
            <a:solidFill>
              <a:srgbClr val="C46B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1600931"/>
            <a:ext cx="475488" cy="14264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08392" y="1700784"/>
            <a:ext cx="1380744" cy="0"/>
          </a:xfrm>
          <a:prstGeom prst="line">
            <a:avLst/>
          </a:prstGeom>
          <a:ln w="19050">
            <a:solidFill>
              <a:srgbClr val="DD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27648" y="2221992"/>
            <a:ext cx="2304288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172331"/>
                </a:solidFill>
                <a:latin typeface="Microsoft YaHei"/>
              </a:rPr>
              <a:t>统一 failure slice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7648" y="2788920"/>
            <a:ext cx="230428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19" b="0">
                <a:solidFill>
                  <a:srgbClr val="667381"/>
                </a:solidFill>
                <a:latin typeface="Microsoft YaHei"/>
              </a:rPr>
              <a:t>按场景报告置信区间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19088" y="3419856"/>
            <a:ext cx="2121408" cy="749808"/>
          </a:xfrm>
          <a:prstGeom prst="roundRect">
            <a:avLst/>
          </a:prstGeom>
          <a:solidFill>
            <a:srgbClr val="F5F8FA"/>
          </a:solidFill>
          <a:ln w="10160">
            <a:solidFill>
              <a:srgbClr val="F5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0528" y="3611880"/>
            <a:ext cx="193852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30" b="1">
                <a:solidFill>
                  <a:srgbClr val="C46B16"/>
                </a:solidFill>
                <a:latin typeface="Microsoft YaHei"/>
              </a:rPr>
              <a:t>穿壁 / 空腔 /
遮挡 / mask</a:t>
            </a:r>
          </a:p>
        </p:txBody>
      </p:sp>
      <p:sp>
        <p:nvSpPr>
          <p:cNvPr id="26" name="Oval 25"/>
          <p:cNvSpPr/>
          <p:nvPr/>
        </p:nvSpPr>
        <p:spPr>
          <a:xfrm>
            <a:off x="10067544" y="1463040"/>
            <a:ext cx="475488" cy="475488"/>
          </a:xfrm>
          <a:prstGeom prst="ellipse">
            <a:avLst/>
          </a:prstGeom>
          <a:solidFill>
            <a:srgbClr val="15805D"/>
          </a:solidFill>
          <a:ln>
            <a:solidFill>
              <a:srgbClr val="1580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67544" y="1600931"/>
            <a:ext cx="475488" cy="14264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62288" y="2221992"/>
            <a:ext cx="2304288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172331"/>
                </a:solidFill>
                <a:latin typeface="Microsoft YaHei"/>
              </a:rPr>
              <a:t>训练我们的 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2788920"/>
            <a:ext cx="230428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19" b="0">
                <a:solidFill>
                  <a:srgbClr val="667381"/>
                </a:solidFill>
                <a:latin typeface="Microsoft YaHei"/>
              </a:rPr>
              <a:t>仅在 Gate 1 成立后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253728" y="3419856"/>
            <a:ext cx="2121408" cy="749808"/>
          </a:xfrm>
          <a:prstGeom prst="roundRect">
            <a:avLst/>
          </a:prstGeom>
          <a:solidFill>
            <a:srgbClr val="F5F8FA"/>
          </a:solidFill>
          <a:ln w="10160">
            <a:solidFill>
              <a:srgbClr val="F5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45168" y="3611880"/>
            <a:ext cx="193852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30" b="1">
                <a:solidFill>
                  <a:srgbClr val="15805D"/>
                </a:solidFill>
                <a:latin typeface="Microsoft YaHei"/>
              </a:rPr>
              <a:t>DepthHypothesisPack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4128" y="4837176"/>
            <a:ext cx="10131552" cy="713232"/>
          </a:xfrm>
          <a:prstGeom prst="roundRect">
            <a:avLst/>
          </a:prstGeom>
          <a:solidFill>
            <a:srgbClr val="EAF6F4"/>
          </a:solidFill>
          <a:ln w="10160">
            <a:solidFill>
              <a:srgbClr val="EA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71016" y="5074920"/>
            <a:ext cx="1243584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F766E"/>
                </a:solidFill>
                <a:latin typeface="Microsoft YaHei"/>
              </a:rPr>
              <a:t>Go / No-Go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14016" y="5038344"/>
            <a:ext cx="8375904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72331"/>
                </a:solidFill>
                <a:latin typeface="Microsoft YaHei"/>
              </a:rPr>
              <a:t>若 GT-events 不能改善固定 planner，就先修 planner / benchmark，而不是继续堆模型。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84831" y="5925312"/>
            <a:ext cx="8010144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0F766E"/>
                </a:solidFill>
                <a:latin typeface="Microsoft YaHei"/>
              </a:rPr>
              <a:t>我们真正要证明的是：多层几何 → 更少的抓取规划错误。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1207" y="6565392"/>
            <a:ext cx="10881360" cy="1371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720" b="0">
                <a:solidFill>
                  <a:srgbClr val="667381"/>
                </a:solidFill>
                <a:latin typeface="Microsoft YaHei"/>
              </a:rPr>
              <a:t>TransCG 下载仍以断点续传方式轮询 Google Drive 配额。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